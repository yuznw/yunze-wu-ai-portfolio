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Roboto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61a4ffd22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61a4ffd22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61a4ffd22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61a4ffd22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61a4ffd22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61a4ffd22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61a4ffd22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61a4ffd22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61a4ffd22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61a4ffd22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61a4ffd22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61a4ffd22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61a4ffd22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61a4ffd22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61a4ffd22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61a4ffd22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61a4ffd22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61a4ffd22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61a4ffd22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61a4ffd22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61a4ffd22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61a4ffd22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61a4ffd22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61a4ffd22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Advanced NLP Platform for News Intelligence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Student: Yunze Wu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Course: ITAI 2373 – Natural Language Processing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Dataset: BBC News Classification Dataset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Project Overview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latin typeface="Arial"/>
                <a:ea typeface="Arial"/>
                <a:cs typeface="Arial"/>
                <a:sym typeface="Arial"/>
              </a:rPr>
              <a:t>Goal:</a:t>
            </a:r>
            <a:br>
              <a:rPr b="1" lang="zh-CN" sz="1100">
                <a:latin typeface="Arial"/>
                <a:ea typeface="Arial"/>
                <a:cs typeface="Arial"/>
                <a:sym typeface="Arial"/>
              </a:rPr>
            </a:br>
            <a:r>
              <a:rPr lang="zh-CN" sz="1100">
                <a:latin typeface="Arial"/>
                <a:ea typeface="Arial"/>
                <a:cs typeface="Arial"/>
                <a:sym typeface="Arial"/>
              </a:rPr>
              <a:t> Build a production-ready NLP system capable of analyzing, classifying, summarizing, retrieving, and interacting with news articles.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latin typeface="Arial"/>
                <a:ea typeface="Arial"/>
                <a:cs typeface="Arial"/>
                <a:sym typeface="Arial"/>
              </a:rPr>
              <a:t>Key Capabilities: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72256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Text preprocessing &amp; TF-IDF modeling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Enhanced classification (LogReg + tuning)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Topic modeling (LDA)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VADER sentiment analysis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Semantic search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Extractive summarization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Multilingual processing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Conversational interface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latin typeface="Arial"/>
                <a:ea typeface="Arial"/>
                <a:cs typeface="Arial"/>
                <a:sym typeface="Arial"/>
              </a:rPr>
              <a:t>Dataset:</a:t>
            </a:r>
            <a:r>
              <a:rPr lang="zh-CN" sz="1100">
                <a:latin typeface="Arial"/>
                <a:ea typeface="Arial"/>
                <a:cs typeface="Arial"/>
                <a:sym typeface="Arial"/>
              </a:rPr>
              <a:t> ~1500 BBC News articles (5 categories)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System Architecture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latin typeface="Arial"/>
                <a:ea typeface="Arial"/>
                <a:cs typeface="Arial"/>
                <a:sym typeface="Arial"/>
              </a:rPr>
              <a:t>Pipeline Components: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Data preprocessing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TF-IDF vectorization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Multi-class classification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Topic modeling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Sentiment analysis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Summarization &amp; semantic search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Translation module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AutoNum type="arabicPeriod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Conversational interface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latin typeface="Arial"/>
                <a:ea typeface="Arial"/>
                <a:cs typeface="Arial"/>
                <a:sym typeface="Arial"/>
              </a:rPr>
              <a:t>Flow:</a:t>
            </a:r>
            <a:br>
              <a:rPr b="1" lang="zh-CN" sz="1100">
                <a:latin typeface="Arial"/>
                <a:ea typeface="Arial"/>
                <a:cs typeface="Arial"/>
                <a:sym typeface="Arial"/>
              </a:rPr>
            </a:br>
            <a:r>
              <a:rPr lang="zh-CN" sz="1100">
                <a:latin typeface="Arial"/>
                <a:ea typeface="Arial"/>
                <a:cs typeface="Arial"/>
                <a:sym typeface="Arial"/>
              </a:rPr>
              <a:t> Raw Text → Preprocess → Vectorize → ML Models → Insights → User Interaction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Preprocessing &amp; TF-IDF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latin typeface="Arial"/>
                <a:ea typeface="Arial"/>
                <a:cs typeface="Arial"/>
                <a:sym typeface="Arial"/>
              </a:rPr>
              <a:t>Preprocessing Steps: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Lowercasing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Tokenization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Stopword removal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Lemmatization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Cleaning punctuation &amp; non-alphabetic tokens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latin typeface="Arial"/>
                <a:ea typeface="Arial"/>
                <a:cs typeface="Arial"/>
                <a:sym typeface="Arial"/>
              </a:rPr>
              <a:t>Feature Extraction: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TF-IDF (max_features=5000, ngram_range=(1,2))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Used for classification &amp; semantic search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Multi-Class Classification Results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latin typeface="Arial"/>
                <a:ea typeface="Arial"/>
                <a:cs typeface="Arial"/>
                <a:sym typeface="Arial"/>
              </a:rPr>
              <a:t>Models tested: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72256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Logistic Regression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Linear SVC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Random Forest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Tuned Logistic Regression (GridSearch)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latin typeface="Arial"/>
                <a:ea typeface="Arial"/>
                <a:cs typeface="Arial"/>
                <a:sym typeface="Arial"/>
              </a:rPr>
              <a:t>Outcome: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72256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zh-CN" sz="1100">
                <a:latin typeface="Arial"/>
                <a:ea typeface="Arial"/>
                <a:cs typeface="Arial"/>
                <a:sym typeface="Arial"/>
              </a:rPr>
              <a:t>Tuned Logistic Regression achieved highest accuracy</a:t>
            </a:r>
            <a:br>
              <a:rPr b="1" lang="zh-CN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LinearSVC stable but slightly lower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Random Forest not ideal for sparse text</a:t>
            </a:r>
            <a:endParaRPr i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latin typeface="Arial"/>
                <a:ea typeface="Arial"/>
                <a:cs typeface="Arial"/>
                <a:sym typeface="Arial"/>
              </a:rPr>
              <a:t>Key Insight:</a:t>
            </a:r>
            <a:br>
              <a:rPr b="1" lang="zh-CN" sz="1100">
                <a:latin typeface="Arial"/>
                <a:ea typeface="Arial"/>
                <a:cs typeface="Arial"/>
                <a:sym typeface="Arial"/>
              </a:rPr>
            </a:br>
            <a:r>
              <a:rPr lang="zh-CN" sz="1100">
                <a:latin typeface="Arial"/>
                <a:ea typeface="Arial"/>
                <a:cs typeface="Arial"/>
                <a:sym typeface="Arial"/>
              </a:rPr>
              <a:t> Linear models perform best on TF-IDF features.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9050" y="1567550"/>
            <a:ext cx="3980376" cy="24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Topic Modeling with LDA</a:t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latin typeface="Arial"/>
                <a:ea typeface="Arial"/>
                <a:cs typeface="Arial"/>
                <a:sym typeface="Arial"/>
              </a:rPr>
              <a:t>Purpose:</a:t>
            </a:r>
            <a:br>
              <a:rPr b="1" lang="zh-CN" sz="1100">
                <a:latin typeface="Arial"/>
                <a:ea typeface="Arial"/>
                <a:cs typeface="Arial"/>
                <a:sym typeface="Arial"/>
              </a:rPr>
            </a:br>
            <a:r>
              <a:rPr lang="zh-CN" sz="1100">
                <a:latin typeface="Arial"/>
                <a:ea typeface="Arial"/>
                <a:cs typeface="Arial"/>
                <a:sym typeface="Arial"/>
              </a:rPr>
              <a:t> Discover hidden thematic structure in news articles.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latin typeface="Arial"/>
                <a:ea typeface="Arial"/>
                <a:cs typeface="Arial"/>
                <a:sym typeface="Arial"/>
              </a:rPr>
              <a:t>Method:</a:t>
            </a:r>
            <a:br>
              <a:rPr b="1" lang="zh-CN" sz="1100">
                <a:latin typeface="Arial"/>
                <a:ea typeface="Arial"/>
                <a:cs typeface="Arial"/>
                <a:sym typeface="Arial"/>
              </a:rPr>
            </a:br>
            <a:r>
              <a:rPr lang="zh-CN" sz="1100">
                <a:latin typeface="Arial"/>
                <a:ea typeface="Arial"/>
                <a:cs typeface="Arial"/>
                <a:sym typeface="Arial"/>
              </a:rPr>
              <a:t> LDA with 6 topics using CountVectorizer.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latin typeface="Arial"/>
                <a:ea typeface="Arial"/>
                <a:cs typeface="Arial"/>
                <a:sym typeface="Arial"/>
              </a:rPr>
              <a:t>Findings: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Business: market, company, profit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Sports: win, match, team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Politics: election, ministers, policy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Tech: software, mobile, users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9247" y="2283500"/>
            <a:ext cx="4076999" cy="168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Sentiment Analysis Overview</a:t>
            </a:r>
            <a:endParaRPr/>
          </a:p>
        </p:txBody>
      </p:sp>
      <p:sp>
        <p:nvSpPr>
          <p:cNvPr id="173" name="Google Shape;173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latin typeface="Arial"/>
                <a:ea typeface="Arial"/>
                <a:cs typeface="Arial"/>
                <a:sym typeface="Arial"/>
              </a:rPr>
              <a:t>Tool:</a:t>
            </a:r>
            <a:r>
              <a:rPr lang="zh-CN" sz="1100">
                <a:latin typeface="Arial"/>
                <a:ea typeface="Arial"/>
                <a:cs typeface="Arial"/>
                <a:sym typeface="Arial"/>
              </a:rPr>
              <a:t> VADER (rule-based sentiment scoring)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latin typeface="Arial"/>
                <a:ea typeface="Arial"/>
                <a:cs typeface="Arial"/>
                <a:sym typeface="Arial"/>
              </a:rPr>
              <a:t>Outputs: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Compound sentiment score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Positive / neutral / negative labels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latin typeface="Arial"/>
                <a:ea typeface="Arial"/>
                <a:cs typeface="Arial"/>
                <a:sym typeface="Arial"/>
              </a:rPr>
              <a:t>Insights: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Entertainment shows more positive tone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Politics articles skew neutral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Business varies depending on news context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2100" y="2804325"/>
            <a:ext cx="2664301" cy="15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2100" y="1108351"/>
            <a:ext cx="2664301" cy="164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Summarization &amp; Semantic Search</a:t>
            </a:r>
            <a:endParaRPr/>
          </a:p>
        </p:txBody>
      </p:sp>
      <p:sp>
        <p:nvSpPr>
          <p:cNvPr id="181" name="Google Shape;181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CN">
                <a:latin typeface="Arial"/>
                <a:ea typeface="Arial"/>
                <a:cs typeface="Arial"/>
                <a:sym typeface="Arial"/>
              </a:rPr>
              <a:t>Extractive Summarization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Scores sentences using word frequency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Selects highest-ranked sentences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CN">
                <a:latin typeface="Arial"/>
                <a:ea typeface="Arial"/>
                <a:cs typeface="Arial"/>
                <a:sym typeface="Arial"/>
              </a:rPr>
              <a:t>Semantic Search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Uses cosine similarity over TF-IDF vectors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Retrieves most relevant articles to a query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i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latin typeface="Arial"/>
                <a:ea typeface="Arial"/>
                <a:cs typeface="Arial"/>
                <a:sym typeface="Arial"/>
              </a:rPr>
              <a:t>Value:</a:t>
            </a:r>
            <a:br>
              <a:rPr b="1" lang="zh-CN" sz="1100">
                <a:latin typeface="Arial"/>
                <a:ea typeface="Arial"/>
                <a:cs typeface="Arial"/>
                <a:sym typeface="Arial"/>
              </a:rPr>
            </a:br>
            <a:r>
              <a:rPr lang="zh-CN" sz="1100">
                <a:latin typeface="Arial"/>
                <a:ea typeface="Arial"/>
                <a:cs typeface="Arial"/>
                <a:sym typeface="Arial"/>
              </a:rPr>
              <a:t> Supports content discovery, recommendation systems, and editorial workflows.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4921" y="2225921"/>
            <a:ext cx="3524325" cy="8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Multilingual Intelligence</a:t>
            </a:r>
            <a:endParaRPr/>
          </a:p>
        </p:txBody>
      </p:sp>
      <p:sp>
        <p:nvSpPr>
          <p:cNvPr id="188" name="Google Shape;188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latin typeface="Arial"/>
                <a:ea typeface="Arial"/>
                <a:cs typeface="Arial"/>
                <a:sym typeface="Arial"/>
              </a:rPr>
              <a:t>Features implemented: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Translate English → Chinese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Translate back Chinese → English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Compare meaning &amp; sentiment before/after translation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latin typeface="Arial"/>
                <a:ea typeface="Arial"/>
                <a:cs typeface="Arial"/>
                <a:sym typeface="Arial"/>
              </a:rPr>
              <a:t>Observations: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Some semantic drift appears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Sentiment may slightly shift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Demonstrates pipeline adaptability for global news monitoring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4175" y="2415675"/>
            <a:ext cx="2846126" cy="121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Conversational Interface Prototype</a:t>
            </a:r>
            <a:endParaRPr/>
          </a:p>
        </p:txBody>
      </p:sp>
      <p:sp>
        <p:nvSpPr>
          <p:cNvPr id="195" name="Google Shape;195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latin typeface="Arial"/>
                <a:ea typeface="Arial"/>
                <a:cs typeface="Arial"/>
                <a:sym typeface="Arial"/>
              </a:rPr>
              <a:t>Capabilities:</a:t>
            </a:r>
            <a:br>
              <a:rPr b="1" lang="zh-CN" sz="1100">
                <a:latin typeface="Arial"/>
                <a:ea typeface="Arial"/>
                <a:cs typeface="Arial"/>
                <a:sym typeface="Arial"/>
              </a:rPr>
            </a:br>
            <a:r>
              <a:rPr lang="zh-CN" sz="1100">
                <a:latin typeface="Arial"/>
                <a:ea typeface="Arial"/>
                <a:cs typeface="Arial"/>
                <a:sym typeface="Arial"/>
              </a:rPr>
              <a:t> Users can type commands such as: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Roboto Mono"/>
                <a:ea typeface="Roboto Mono"/>
                <a:cs typeface="Roboto Mono"/>
                <a:sym typeface="Roboto Mono"/>
              </a:rPr>
              <a:t>search: &lt;query&gt;</a:t>
            </a:r>
            <a:br>
              <a:rPr lang="zh-CN" sz="1100"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Roboto Mono"/>
                <a:ea typeface="Roboto Mono"/>
                <a:cs typeface="Roboto Mono"/>
                <a:sym typeface="Roboto Mono"/>
              </a:rPr>
              <a:t>summary: &lt;index&gt;</a:t>
            </a:r>
            <a:br>
              <a:rPr lang="zh-CN" sz="1100"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Roboto Mono"/>
                <a:ea typeface="Roboto Mono"/>
                <a:cs typeface="Roboto Mono"/>
                <a:sym typeface="Roboto Mono"/>
              </a:rPr>
              <a:t>sentiment: &lt;index&gt;</a:t>
            </a:r>
            <a:br>
              <a:rPr lang="zh-CN" sz="1100"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Roboto Mono"/>
                <a:ea typeface="Roboto Mono"/>
                <a:cs typeface="Roboto Mono"/>
                <a:sym typeface="Roboto Mono"/>
              </a:rPr>
              <a:t>show: &lt;index&gt;</a:t>
            </a:r>
            <a:br>
              <a:rPr lang="zh-CN" sz="1100"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latin typeface="Arial"/>
                <a:ea typeface="Arial"/>
                <a:cs typeface="Arial"/>
                <a:sym typeface="Arial"/>
              </a:rPr>
              <a:t>Purpose:</a:t>
            </a:r>
            <a:br>
              <a:rPr b="1" lang="zh-CN" sz="1100">
                <a:latin typeface="Arial"/>
                <a:ea typeface="Arial"/>
                <a:cs typeface="Arial"/>
                <a:sym typeface="Arial"/>
              </a:rPr>
            </a:br>
            <a:r>
              <a:rPr lang="zh-CN" sz="1100">
                <a:latin typeface="Arial"/>
                <a:ea typeface="Arial"/>
                <a:cs typeface="Arial"/>
                <a:sym typeface="Arial"/>
              </a:rPr>
              <a:t> Prototype of an interactive NLP assistant for news analysts.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latin typeface="Arial"/>
                <a:ea typeface="Arial"/>
                <a:cs typeface="Arial"/>
                <a:sym typeface="Arial"/>
              </a:rPr>
              <a:t>Notes: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Designed as CLI in Colab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Serves as foundation for future chatbot or web interface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350" y="1960163"/>
            <a:ext cx="3826749" cy="212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Key Challenges &amp; Lessons Learned</a:t>
            </a:r>
            <a:endParaRPr/>
          </a:p>
        </p:txBody>
      </p:sp>
      <p:sp>
        <p:nvSpPr>
          <p:cNvPr id="202" name="Google Shape;202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latin typeface="Arial"/>
                <a:ea typeface="Arial"/>
                <a:cs typeface="Arial"/>
                <a:sym typeface="Arial"/>
              </a:rPr>
              <a:t>Challenges: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Sparse TF-IDF features required careful model selection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Topic modeling sensitive to preprocessing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Translation inconsistencies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CLI limitations in Colab environment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100">
                <a:latin typeface="Arial"/>
                <a:ea typeface="Arial"/>
                <a:cs typeface="Arial"/>
                <a:sym typeface="Arial"/>
              </a:rPr>
              <a:t>Lessons: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Modular design greatly improves scalability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Traditional NLP still powerful when combined properly</a:t>
            </a:r>
            <a:br>
              <a:rPr lang="zh-C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zh-CN" sz="1100">
                <a:latin typeface="Arial"/>
                <a:ea typeface="Arial"/>
                <a:cs typeface="Arial"/>
                <a:sym typeface="Arial"/>
              </a:rPr>
              <a:t>Semantic search and summarization dramatically increase usability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Future Enhancements</a:t>
            </a:r>
            <a:endParaRPr/>
          </a:p>
        </p:txBody>
      </p:sp>
      <p:sp>
        <p:nvSpPr>
          <p:cNvPr id="208" name="Google Shape;208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Transformer summarization (BART/T5)</a:t>
            </a:r>
            <a:br>
              <a:rPr lang="zh-C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Dense embeddings for search (Sentence-BERT)</a:t>
            </a:r>
            <a:br>
              <a:rPr lang="zh-C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Multilingual classification (mBERT/XLM-R)</a:t>
            </a:r>
            <a:br>
              <a:rPr lang="zh-C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Full deployment via FastAPI + Streamlit</a:t>
            </a:r>
            <a:br>
              <a:rPr lang="zh-C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Real-time news ingestion + dashboards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Conclusion</a:t>
            </a:r>
            <a:endParaRPr/>
          </a:p>
        </p:txBody>
      </p:sp>
      <p:sp>
        <p:nvSpPr>
          <p:cNvPr id="214" name="Google Shape;214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NewsBot Intelligence System 2.0 demonstrates an integrated and extensible NLP pipeline capable of real-world news analytics. The project synthesizes classification, topic modeling, sentiment analysis, summarization, semantic retrieval, translation, and interactive querying into a cohesive system. It highlights the power of modern NLP tools and their applicability to media monitoring and information intelligence.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