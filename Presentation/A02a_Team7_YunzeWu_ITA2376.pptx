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63" r:id="rId7"/>
    <p:sldId id="259" r:id="rId8"/>
    <p:sldId id="260" r:id="rId9"/>
    <p:sldId id="262" r:id="rId10"/>
    <p:sldId id="261" r:id="rId11"/>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90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F4EC7E0-247E-4DCD-9E8C-67A3034214B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90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387ea3f67a6_0_65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87ea3f67a6_0_65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 name="Shape 55"/>
        <p:cNvGrpSpPr/>
        <p:nvPr/>
      </p:nvGrpSpPr>
      <p:grpSpPr>
        <a:xfrm>
          <a:off x="0" y="0"/>
          <a:ext cx="0" cy="0"/>
          <a:chOff x="0" y="0"/>
          <a:chExt cx="0" cy="0"/>
        </a:xfrm>
      </p:grpSpPr>
      <p:sp>
        <p:nvSpPr>
          <p:cNvPr id="56" name="Google Shape;56;g387ea3f67a6_0_53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87ea3f67a6_0_5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 deep learning framework is a set of tools and libraries that make it easier to build, train, and test neural networks. Instead of coding everything from scratch, frameworks like TensorFlow and PyTorch handle the heavy math and let us focus on designing and improving models.</a:t>
            </a:r>
            <a:endParaRPr lang="en-GB"/>
          </a:p>
          <a:p>
            <a:pPr marL="0" lvl="0" indent="0" algn="l" rtl="0">
              <a:spcBef>
                <a:spcPts val="0"/>
              </a:spcBef>
              <a:spcAft>
                <a:spcPts val="0"/>
              </a:spcAft>
              <a:buNone/>
            </a:pPr>
          </a:p>
          <a:p>
            <a:pPr marL="0" lvl="0" indent="0" algn="l" rtl="0">
              <a:spcBef>
                <a:spcPts val="0"/>
              </a:spcBef>
              <a:spcAft>
                <a:spcPts val="0"/>
              </a:spcAft>
              <a:buNone/>
            </a:pPr>
            <a:r>
              <a:rPr lang="en-GB">
                <a:solidFill>
                  <a:schemeClr val="dk1"/>
                </a:solidFill>
              </a:rPr>
              <a:t>TensorFlow and PyTorch each have different strengths.</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GB">
                <a:solidFill>
                  <a:schemeClr val="dk1"/>
                </a:solidFill>
              </a:rPr>
              <a:t>TensorFlow was designed to handle big machine learning projects and make it easier to put models into real-world products.</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GB">
                <a:solidFill>
                  <a:schemeClr val="dk1"/>
                </a:solidFill>
              </a:rPr>
              <a:t>PyTorch is Python-based and has become very popular with researchers and students because it’s easy to use and experiment with.</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panose="020B0604020202020204"/>
              <a:buNone/>
            </a:pP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 name="Shape 63"/>
        <p:cNvGrpSpPr/>
        <p:nvPr/>
      </p:nvGrpSpPr>
      <p:grpSpPr>
        <a:xfrm>
          <a:off x="0" y="0"/>
          <a:ext cx="0" cy="0"/>
          <a:chOff x="0" y="0"/>
          <a:chExt cx="0" cy="0"/>
        </a:xfrm>
      </p:grpSpPr>
      <p:sp>
        <p:nvSpPr>
          <p:cNvPr id="64" name="Google Shape;64;g387ea3f67a6_0_55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87ea3f67a6_0_55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TensorFlow has more than just the main library. It comes with extra tools — Lite for mobile, Serving for deployment, and Hub for pre-trained models.</a:t>
            </a:r>
            <a:endParaRPr>
              <a:solidFill>
                <a:schemeClr val="dk1"/>
              </a:solidFill>
            </a:endParaRPr>
          </a:p>
          <a:p>
            <a:pPr marL="0" lvl="0" indent="457200" algn="l" rtl="0">
              <a:spcBef>
                <a:spcPts val="0"/>
              </a:spcBef>
              <a:spcAft>
                <a:spcPts val="0"/>
              </a:spcAft>
              <a:buNone/>
            </a:pPr>
            <a:r>
              <a:rPr lang="en-GB" b="1">
                <a:solidFill>
                  <a:schemeClr val="dk1"/>
                </a:solidFill>
              </a:rPr>
              <a:t>TensorFlow Lite</a:t>
            </a:r>
            <a:r>
              <a:rPr lang="en-GB">
                <a:solidFill>
                  <a:schemeClr val="dk1"/>
                </a:solidFill>
              </a:rPr>
              <a:t> → lets you run models on mobile phones or small devices (like Android apps or IoT).</a:t>
            </a:r>
            <a:endParaRPr>
              <a:solidFill>
                <a:schemeClr val="dk1"/>
              </a:solidFill>
            </a:endParaRPr>
          </a:p>
          <a:p>
            <a:pPr marL="0" lvl="0" indent="457200" algn="l" rtl="0">
              <a:spcBef>
                <a:spcPts val="0"/>
              </a:spcBef>
              <a:spcAft>
                <a:spcPts val="0"/>
              </a:spcAft>
              <a:buNone/>
            </a:pPr>
            <a:r>
              <a:rPr lang="en-GB" b="1">
                <a:solidFill>
                  <a:schemeClr val="dk1"/>
                </a:solidFill>
              </a:rPr>
              <a:t>TensorFlow Serving</a:t>
            </a:r>
            <a:r>
              <a:rPr lang="en-GB">
                <a:solidFill>
                  <a:schemeClr val="dk1"/>
                </a:solidFill>
              </a:rPr>
              <a:t> → a tool for putting models into production, so apps/websites can use them in real time.</a:t>
            </a:r>
            <a:endParaRPr>
              <a:solidFill>
                <a:schemeClr val="dk1"/>
              </a:solidFill>
            </a:endParaRPr>
          </a:p>
          <a:p>
            <a:pPr marL="0" lvl="0" indent="457200" algn="l" rtl="0">
              <a:spcBef>
                <a:spcPts val="0"/>
              </a:spcBef>
              <a:spcAft>
                <a:spcPts val="0"/>
              </a:spcAft>
              <a:buNone/>
            </a:pPr>
            <a:r>
              <a:rPr lang="en-GB" b="1">
                <a:solidFill>
                  <a:schemeClr val="dk1"/>
                </a:solidFill>
              </a:rPr>
              <a:t>TensorFlow Hub</a:t>
            </a:r>
            <a:r>
              <a:rPr lang="en-GB">
                <a:solidFill>
                  <a:schemeClr val="dk1"/>
                </a:solidFill>
              </a:rPr>
              <a:t> → an online library of pre-trained models you can download and reuse instead of starting from scratch.</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	</a:t>
            </a:r>
            <a:endParaRPr>
              <a:solidFill>
                <a:schemeClr val="dk1"/>
              </a:solidFill>
            </a:endParaRPr>
          </a:p>
          <a:p>
            <a:pPr marL="0" lvl="0" indent="0" algn="l" rtl="0">
              <a:spcBef>
                <a:spcPts val="0"/>
              </a:spcBef>
              <a:spcAft>
                <a:spcPts val="0"/>
              </a:spcAft>
              <a:buNone/>
            </a:pPr>
            <a:r>
              <a:rPr lang="en-GB">
                <a:solidFill>
                  <a:schemeClr val="dk1"/>
                </a:solidFill>
              </a:rPr>
              <a:t>PyTorch is great for flexibility. It uses dynamic graphs, which makes it easier to debug and experiment with new models.</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PyTorch also has tools for deployment. TorchScript makes models run outside of Python, and ONNX lets you export models to other platforms.</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 name="Shape 63"/>
        <p:cNvGrpSpPr/>
        <p:nvPr/>
      </p:nvGrpSpPr>
      <p:grpSpPr>
        <a:xfrm>
          <a:off x="0" y="0"/>
          <a:ext cx="0" cy="0"/>
          <a:chOff x="0" y="0"/>
          <a:chExt cx="0" cy="0"/>
        </a:xfrm>
      </p:grpSpPr>
      <p:sp>
        <p:nvSpPr>
          <p:cNvPr id="64" name="Google Shape;64;g387ea3f67a6_0_55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87ea3f67a6_0_55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TensorFlow has more than just the main library. It comes with extra tools — Lite for mobile, Serving for deployment, and Hub for pre-trained models.</a:t>
            </a:r>
            <a:endParaRPr>
              <a:solidFill>
                <a:schemeClr val="dk1"/>
              </a:solidFill>
            </a:endParaRPr>
          </a:p>
          <a:p>
            <a:pPr marL="0" lvl="0" indent="457200" algn="l" rtl="0">
              <a:spcBef>
                <a:spcPts val="0"/>
              </a:spcBef>
              <a:spcAft>
                <a:spcPts val="0"/>
              </a:spcAft>
              <a:buNone/>
            </a:pPr>
            <a:r>
              <a:rPr lang="en-GB" b="1">
                <a:solidFill>
                  <a:schemeClr val="dk1"/>
                </a:solidFill>
              </a:rPr>
              <a:t>TensorFlow Lite</a:t>
            </a:r>
            <a:r>
              <a:rPr lang="en-GB">
                <a:solidFill>
                  <a:schemeClr val="dk1"/>
                </a:solidFill>
              </a:rPr>
              <a:t> → lets you run models on mobile phones or small devices (like Android apps or IoT).</a:t>
            </a:r>
            <a:endParaRPr>
              <a:solidFill>
                <a:schemeClr val="dk1"/>
              </a:solidFill>
            </a:endParaRPr>
          </a:p>
          <a:p>
            <a:pPr marL="0" lvl="0" indent="457200" algn="l" rtl="0">
              <a:spcBef>
                <a:spcPts val="0"/>
              </a:spcBef>
              <a:spcAft>
                <a:spcPts val="0"/>
              </a:spcAft>
              <a:buNone/>
            </a:pPr>
            <a:r>
              <a:rPr lang="en-GB" b="1">
                <a:solidFill>
                  <a:schemeClr val="dk1"/>
                </a:solidFill>
              </a:rPr>
              <a:t>TensorFlow Serving</a:t>
            </a:r>
            <a:r>
              <a:rPr lang="en-GB">
                <a:solidFill>
                  <a:schemeClr val="dk1"/>
                </a:solidFill>
              </a:rPr>
              <a:t> → a tool for putting models into production, so apps/websites can use them in real time.</a:t>
            </a:r>
            <a:endParaRPr>
              <a:solidFill>
                <a:schemeClr val="dk1"/>
              </a:solidFill>
            </a:endParaRPr>
          </a:p>
          <a:p>
            <a:pPr marL="0" lvl="0" indent="457200" algn="l" rtl="0">
              <a:spcBef>
                <a:spcPts val="0"/>
              </a:spcBef>
              <a:spcAft>
                <a:spcPts val="0"/>
              </a:spcAft>
              <a:buNone/>
            </a:pPr>
            <a:r>
              <a:rPr lang="en-GB" b="1">
                <a:solidFill>
                  <a:schemeClr val="dk1"/>
                </a:solidFill>
              </a:rPr>
              <a:t>TensorFlow Hub</a:t>
            </a:r>
            <a:r>
              <a:rPr lang="en-GB">
                <a:solidFill>
                  <a:schemeClr val="dk1"/>
                </a:solidFill>
              </a:rPr>
              <a:t> → an online library of pre-trained models you can download and reuse instead of starting from scratch.</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	</a:t>
            </a:r>
            <a:endParaRPr>
              <a:solidFill>
                <a:schemeClr val="dk1"/>
              </a:solidFill>
            </a:endParaRPr>
          </a:p>
          <a:p>
            <a:pPr marL="0" lvl="0" indent="0" algn="l" rtl="0">
              <a:spcBef>
                <a:spcPts val="0"/>
              </a:spcBef>
              <a:spcAft>
                <a:spcPts val="0"/>
              </a:spcAft>
              <a:buNone/>
            </a:pPr>
            <a:r>
              <a:rPr lang="en-GB">
                <a:solidFill>
                  <a:schemeClr val="dk1"/>
                </a:solidFill>
              </a:rPr>
              <a:t>PyTorch is great for flexibility. It uses dynamic graphs, which makes it easier to debug and experiment with new models.</a:t>
            </a: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PyTorch also has tools for deployment. TorchScript makes models run outside of Python, and ONNX lets you export models to other platforms.</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73"/>
        <p:cNvGrpSpPr/>
        <p:nvPr/>
      </p:nvGrpSpPr>
      <p:grpSpPr>
        <a:xfrm>
          <a:off x="0" y="0"/>
          <a:ext cx="0" cy="0"/>
          <a:chOff x="0" y="0"/>
          <a:chExt cx="0" cy="0"/>
        </a:xfrm>
      </p:grpSpPr>
      <p:sp>
        <p:nvSpPr>
          <p:cNvPr id="74" name="Google Shape;74;g387ea3f67a6_0_57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87ea3f67a6_0_57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b="1">
                <a:solidFill>
                  <a:schemeClr val="dk1"/>
                </a:solidFill>
              </a:rPr>
              <a:t>TensorFlow:</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i="1">
                <a:solidFill>
                  <a:schemeClr val="dk1"/>
                </a:solidFill>
              </a:rPr>
              <a:t>Google Translate</a:t>
            </a:r>
            <a:r>
              <a:rPr lang="en-GB">
                <a:solidFill>
                  <a:schemeClr val="dk1"/>
                </a:solidFill>
              </a:rPr>
              <a:t> → handles the neural networks that translate text between l</a:t>
            </a:r>
            <a:r>
              <a:rPr lang="en-GB">
                <a:solidFill>
                  <a:schemeClr val="dk1"/>
                </a:solidFill>
              </a:rPr>
              <a:t>a</a:t>
            </a:r>
            <a:r>
              <a:rPr lang="en-GB">
                <a:solidFill>
                  <a:schemeClr val="dk1"/>
                </a:solidFill>
              </a:rPr>
              <a:t>nguages.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GB" i="1">
                <a:solidFill>
                  <a:schemeClr val="dk1"/>
                </a:solidFill>
              </a:rPr>
              <a:t>Airbnb</a:t>
            </a:r>
            <a:r>
              <a:rPr lang="en-GB">
                <a:solidFill>
                  <a:schemeClr val="dk1"/>
                </a:solidFill>
              </a:rPr>
              <a:t> → runs recommendation models to match guests with the best listings.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GB" i="1">
                <a:solidFill>
                  <a:schemeClr val="dk1"/>
                </a:solidFill>
              </a:rPr>
              <a:t>Twitter</a:t>
            </a:r>
            <a:r>
              <a:rPr lang="en-GB">
                <a:solidFill>
                  <a:schemeClr val="dk1"/>
                </a:solidFill>
              </a:rPr>
              <a:t> → helps filter feeds and detect spam with ML pipelines.</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r>
              <a:rPr lang="en-GB" b="1">
                <a:solidFill>
                  <a:schemeClr val="dk1"/>
                </a:solidFill>
              </a:rPr>
              <a:t>PyTorch:</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i="1">
                <a:solidFill>
                  <a:schemeClr val="dk1"/>
                </a:solidFill>
              </a:rPr>
              <a:t>Hugging Face</a:t>
            </a:r>
            <a:r>
              <a:rPr lang="en-GB">
                <a:solidFill>
                  <a:schemeClr val="dk1"/>
                </a:solidFill>
              </a:rPr>
              <a:t> → builds popular language models like GPT-style chatbots.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GB" i="1">
                <a:solidFill>
                  <a:schemeClr val="dk1"/>
                </a:solidFill>
              </a:rPr>
              <a:t>Tesla Autopilot</a:t>
            </a:r>
            <a:r>
              <a:rPr lang="en-GB">
                <a:solidFill>
                  <a:schemeClr val="dk1"/>
                </a:solidFill>
              </a:rPr>
              <a:t> → trains vision systems that recognize roads, cars, and pedestrians.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GB" i="1">
                <a:solidFill>
                  <a:schemeClr val="dk1"/>
                </a:solidFill>
              </a:rPr>
              <a:t>Meta AI</a:t>
            </a:r>
            <a:r>
              <a:rPr lang="en-GB">
                <a:solidFill>
                  <a:schemeClr val="dk1"/>
                </a:solidFill>
              </a:rPr>
              <a:t> → develops new research models in vision and language.</a:t>
            </a:r>
            <a:endParaRPr>
              <a:solidFill>
                <a:schemeClr val="dk1"/>
              </a:solidFill>
            </a:endParaRPr>
          </a:p>
          <a:p>
            <a:pPr marL="0" lvl="0" indent="0" algn="l" rtl="0">
              <a:spcBef>
                <a:spcPts val="1200"/>
              </a:spcBef>
              <a:spcAft>
                <a:spcPts val="0"/>
              </a:spcAft>
              <a:buNone/>
            </a:pP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89"/>
        <p:cNvGrpSpPr/>
        <p:nvPr/>
      </p:nvGrpSpPr>
      <p:grpSpPr>
        <a:xfrm>
          <a:off x="0" y="0"/>
          <a:ext cx="0" cy="0"/>
          <a:chOff x="0" y="0"/>
          <a:chExt cx="0" cy="0"/>
        </a:xfrm>
      </p:grpSpPr>
      <p:sp>
        <p:nvSpPr>
          <p:cNvPr id="90" name="Google Shape;90;g387ea3f67a6_0_59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87ea3f67a6_0_59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Clr>
                <a:schemeClr val="dk1"/>
              </a:buClr>
              <a:buSzPts val="1100"/>
              <a:buChar char="●"/>
            </a:pPr>
            <a:r>
              <a:rPr lang="en-GB">
                <a:solidFill>
                  <a:schemeClr val="dk1"/>
                </a:solidFill>
              </a:rPr>
              <a:t>TensorFlow takes a more structured approach, while PyTorch feels more interactive when you’re building models.</a:t>
            </a:r>
            <a:br>
              <a:rPr lang="en-GB">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GB">
                <a:solidFill>
                  <a:schemeClr val="dk1"/>
                </a:solidFill>
              </a:rPr>
              <a:t>TensorFlow is better tuned for scaling up to really large systems, but PyTorch makes it faster to try out smaller ideas.</a:t>
            </a:r>
            <a:br>
              <a:rPr lang="en-GB">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GB">
                <a:solidFill>
                  <a:schemeClr val="dk1"/>
                </a:solidFill>
              </a:rPr>
              <a:t>TensorFlow’s community is strongest in companies, while PyTorch’s is strongest in research labs.</a:t>
            </a:r>
            <a:br>
              <a:rPr lang="en-GB">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GB">
                <a:solidFill>
                  <a:schemeClr val="dk1"/>
                </a:solidFill>
              </a:rPr>
              <a:t>For deployment, TensorFlow has cloud and mobile tools, while PyTorch focuses on portability across platforms.</a:t>
            </a:r>
            <a:br>
              <a:rPr lang="en-GB">
                <a:solidFill>
                  <a:schemeClr val="dk1"/>
                </a:solidFill>
              </a:rPr>
            </a:br>
            <a:endParaRPr>
              <a:solidFill>
                <a:schemeClr val="dk1"/>
              </a:solidFill>
            </a:endParaRPr>
          </a:p>
          <a:p>
            <a:pPr marL="0" lvl="0" indent="0" algn="l" rtl="0">
              <a:spcBef>
                <a:spcPts val="1200"/>
              </a:spcBef>
              <a:spcAft>
                <a:spcPts val="0"/>
              </a:spcAft>
              <a:buNone/>
            </a:pP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89"/>
        <p:cNvGrpSpPr/>
        <p:nvPr/>
      </p:nvGrpSpPr>
      <p:grpSpPr>
        <a:xfrm>
          <a:off x="0" y="0"/>
          <a:ext cx="0" cy="0"/>
          <a:chOff x="0" y="0"/>
          <a:chExt cx="0" cy="0"/>
        </a:xfrm>
      </p:grpSpPr>
      <p:sp>
        <p:nvSpPr>
          <p:cNvPr id="90" name="Google Shape;90;g387ea3f67a6_0_59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87ea3f67a6_0_59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Clr>
                <a:schemeClr val="dk1"/>
              </a:buClr>
              <a:buSzPts val="1100"/>
              <a:buChar char="●"/>
            </a:pPr>
            <a:r>
              <a:rPr lang="en-GB">
                <a:solidFill>
                  <a:schemeClr val="dk1"/>
                </a:solidFill>
              </a:rPr>
              <a:t>TensorFlow takes a more structured approach, while PyTorch feels more interactive when you’re building models.</a:t>
            </a:r>
            <a:br>
              <a:rPr lang="en-GB">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GB">
                <a:solidFill>
                  <a:schemeClr val="dk1"/>
                </a:solidFill>
              </a:rPr>
              <a:t>TensorFlow is better tuned for scaling up to really large systems, but PyTorch makes it faster to try out smaller ideas.</a:t>
            </a:r>
            <a:br>
              <a:rPr lang="en-GB">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GB">
                <a:solidFill>
                  <a:schemeClr val="dk1"/>
                </a:solidFill>
              </a:rPr>
              <a:t>TensorFlow’s community is strongest in companies, while PyTorch’s is strongest in research labs.</a:t>
            </a:r>
            <a:br>
              <a:rPr lang="en-GB">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GB">
                <a:solidFill>
                  <a:schemeClr val="dk1"/>
                </a:solidFill>
              </a:rPr>
              <a:t>For deployment, TensorFlow has cloud and mobile tools, while PyTorch focuses on portability across platforms.</a:t>
            </a:r>
            <a:br>
              <a:rPr lang="en-GB">
                <a:solidFill>
                  <a:schemeClr val="dk1"/>
                </a:solidFill>
              </a:rPr>
            </a:br>
            <a:endParaRPr>
              <a:solidFill>
                <a:schemeClr val="dk1"/>
              </a:solidFill>
            </a:endParaRPr>
          </a:p>
          <a:p>
            <a:pPr marL="0" lvl="0" indent="0" algn="l" rtl="0">
              <a:spcBef>
                <a:spcPts val="1200"/>
              </a:spcBef>
              <a:spcAft>
                <a:spcPts val="0"/>
              </a:spcAft>
              <a:buNone/>
            </a:pP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5" name="Shape 95"/>
        <p:cNvGrpSpPr/>
        <p:nvPr/>
      </p:nvGrpSpPr>
      <p:grpSpPr>
        <a:xfrm>
          <a:off x="0" y="0"/>
          <a:ext cx="0" cy="0"/>
          <a:chOff x="0" y="0"/>
          <a:chExt cx="0" cy="0"/>
        </a:xfrm>
      </p:grpSpPr>
      <p:sp>
        <p:nvSpPr>
          <p:cNvPr id="96" name="Google Shape;96;g387ea3f67a6_0_6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87ea3f67a6_0_6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2.png"/><Relationship Id="rId7" Type="http://schemas.openxmlformats.org/officeDocument/2006/relationships/image" Target="../media/image1.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0" Type="http://schemas.openxmlformats.org/officeDocument/2006/relationships/notesSlide" Target="../notesSlides/notesSlide5.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3" name="Shape 53"/>
        <p:cNvGrpSpPr/>
        <p:nvPr/>
      </p:nvGrpSpPr>
      <p:grpSpPr>
        <a:xfrm>
          <a:off x="0" y="0"/>
          <a:ext cx="0" cy="0"/>
          <a:chOff x="0" y="0"/>
          <a:chExt cx="0" cy="0"/>
        </a:xfrm>
      </p:grpSpPr>
      <p:sp>
        <p:nvSpPr>
          <p:cNvPr id="54" name="Google Shape;54;p13"/>
          <p:cNvSpPr txBox="1"/>
          <p:nvPr/>
        </p:nvSpPr>
        <p:spPr>
          <a:xfrm>
            <a:off x="1302750" y="1785350"/>
            <a:ext cx="65385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400">
                <a:solidFill>
                  <a:schemeClr val="dk1"/>
                </a:solidFill>
              </a:rPr>
              <a:t>TensorFlow vs PyTorch</a:t>
            </a:r>
            <a:endParaRPr sz="34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Background</a:t>
            </a:r>
            <a:endParaRPr lang="en-GB"/>
          </a:p>
        </p:txBody>
      </p:sp>
      <p:sp>
        <p:nvSpPr>
          <p:cNvPr id="60" name="Google Shape;60;p14"/>
          <p:cNvSpPr txBox="1"/>
          <p:nvPr>
            <p:ph type="body" idx="1"/>
          </p:nvPr>
        </p:nvSpPr>
        <p:spPr>
          <a:xfrm>
            <a:off x="311700" y="1152475"/>
            <a:ext cx="57810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GB"/>
              <a:t>Deep learning frameworks simplify model training and deployment</a:t>
            </a:r>
            <a:endParaRPr lang="en-GB"/>
          </a:p>
          <a:p>
            <a:pPr marL="457200" lvl="0" indent="-342900" algn="l" rtl="0">
              <a:spcBef>
                <a:spcPts val="0"/>
              </a:spcBef>
              <a:spcAft>
                <a:spcPts val="0"/>
              </a:spcAft>
              <a:buSzPts val="1800"/>
              <a:buChar char="●"/>
            </a:pPr>
            <a:r>
              <a:rPr lang="en-GB"/>
              <a:t>TensorFlow (Google, 2015): built for production &amp; scalability</a:t>
            </a:r>
            <a:endParaRPr lang="en-GB"/>
          </a:p>
          <a:p>
            <a:pPr marL="457200" lvl="0" indent="-342900" algn="l" rtl="0">
              <a:spcBef>
                <a:spcPts val="0"/>
              </a:spcBef>
              <a:spcAft>
                <a:spcPts val="0"/>
              </a:spcAft>
              <a:buSzPts val="1800"/>
              <a:buChar char="●"/>
            </a:pPr>
            <a:r>
              <a:rPr lang="en-GB"/>
              <a:t>PyTorch (Meta/FAIR, 2016): built for flexibility &amp; research</a:t>
            </a:r>
            <a:endParaRPr lang="en-GB"/>
          </a:p>
          <a:p>
            <a:pPr marL="457200" lvl="0" indent="-342900" algn="l" rtl="0">
              <a:spcBef>
                <a:spcPts val="0"/>
              </a:spcBef>
              <a:spcAft>
                <a:spcPts val="0"/>
              </a:spcAft>
              <a:buSzPts val="1800"/>
              <a:buChar char="●"/>
            </a:pPr>
            <a:r>
              <a:rPr lang="en-GB"/>
              <a:t>Both dominate today’s deep learning landscape</a:t>
            </a:r>
            <a:endParaRPr lang="en-GB"/>
          </a:p>
          <a:p>
            <a:pPr marL="0" lvl="0" indent="0" algn="l" rtl="0">
              <a:spcBef>
                <a:spcPts val="1200"/>
              </a:spcBef>
              <a:spcAft>
                <a:spcPts val="1200"/>
              </a:spcAft>
              <a:buNone/>
            </a:pPr>
          </a:p>
        </p:txBody>
      </p:sp>
      <p:pic>
        <p:nvPicPr>
          <p:cNvPr id="61" name="Google Shape;61;p14"/>
          <p:cNvPicPr preferRelativeResize="0"/>
          <p:nvPr/>
        </p:nvPicPr>
        <p:blipFill>
          <a:blip r:embed="rId1"/>
          <a:stretch>
            <a:fillRect/>
          </a:stretch>
        </p:blipFill>
        <p:spPr>
          <a:xfrm>
            <a:off x="6252425" y="1152475"/>
            <a:ext cx="2458573" cy="1572626"/>
          </a:xfrm>
          <a:prstGeom prst="rect">
            <a:avLst/>
          </a:prstGeom>
          <a:noFill/>
          <a:ln>
            <a:noFill/>
          </a:ln>
        </p:spPr>
      </p:pic>
      <p:pic>
        <p:nvPicPr>
          <p:cNvPr id="62" name="Google Shape;62;p14"/>
          <p:cNvPicPr preferRelativeResize="0"/>
          <p:nvPr/>
        </p:nvPicPr>
        <p:blipFill>
          <a:blip r:embed="rId2"/>
          <a:stretch>
            <a:fillRect/>
          </a:stretch>
        </p:blipFill>
        <p:spPr>
          <a:xfrm>
            <a:off x="6390945" y="3132550"/>
            <a:ext cx="2320055" cy="572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K</a:t>
            </a:r>
            <a:r>
              <a:rPr lang="en-GB"/>
              <a:t>ey Features</a:t>
            </a:r>
            <a:endParaRPr lang="en-GB"/>
          </a:p>
        </p:txBody>
      </p:sp>
      <p:sp>
        <p:nvSpPr>
          <p:cNvPr id="68" name="Google Shape;68;p15"/>
          <p:cNvSpPr txBox="1"/>
          <p:nvPr>
            <p:ph type="body" idx="1"/>
          </p:nvPr>
        </p:nvSpPr>
        <p:spPr>
          <a:xfrm>
            <a:off x="-56675" y="1811625"/>
            <a:ext cx="5001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GB"/>
              <a:t>Wide ecosystem (Lite, Serving, Hub)</a:t>
            </a:r>
            <a:endParaRPr lang="en-GB"/>
          </a:p>
          <a:p>
            <a:pPr marL="457200" lvl="0" indent="-342900" algn="l" rtl="0">
              <a:spcBef>
                <a:spcPts val="0"/>
              </a:spcBef>
              <a:spcAft>
                <a:spcPts val="0"/>
              </a:spcAft>
              <a:buSzPts val="1800"/>
              <a:buChar char="●"/>
            </a:pPr>
            <a:r>
              <a:rPr lang="en-GB"/>
              <a:t>Runs on CPU, GPU, and TPU</a:t>
            </a:r>
            <a:endParaRPr lang="en-GB"/>
          </a:p>
          <a:p>
            <a:pPr marL="457200" lvl="0" indent="-342900" algn="l" rtl="0">
              <a:spcBef>
                <a:spcPts val="0"/>
              </a:spcBef>
              <a:spcAft>
                <a:spcPts val="0"/>
              </a:spcAft>
              <a:buSzPts val="1800"/>
              <a:buChar char="●"/>
            </a:pPr>
            <a:r>
              <a:rPr lang="en-GB"/>
              <a:t>Optimized for enterprise production</a:t>
            </a:r>
            <a:endParaRPr lang="en-GB"/>
          </a:p>
          <a:p>
            <a:pPr marL="457200" lvl="0" indent="-342900" algn="l" rtl="0">
              <a:spcBef>
                <a:spcPts val="0"/>
              </a:spcBef>
              <a:spcAft>
                <a:spcPts val="0"/>
              </a:spcAft>
              <a:buSzPts val="1800"/>
              <a:buChar char="●"/>
            </a:pPr>
            <a:r>
              <a:rPr lang="en-GB"/>
              <a:t>Large community with Google support</a:t>
            </a:r>
            <a:endParaRPr lang="en-GB"/>
          </a:p>
          <a:p>
            <a:pPr marL="0" lvl="0" indent="0" algn="l" rtl="0">
              <a:spcBef>
                <a:spcPts val="1200"/>
              </a:spcBef>
              <a:spcAft>
                <a:spcPts val="1200"/>
              </a:spcAft>
              <a:buNone/>
            </a:pPr>
          </a:p>
        </p:txBody>
      </p:sp>
      <p:pic>
        <p:nvPicPr>
          <p:cNvPr id="69" name="Google Shape;69;p15"/>
          <p:cNvPicPr preferRelativeResize="0"/>
          <p:nvPr/>
        </p:nvPicPr>
        <p:blipFill>
          <a:blip r:embed="rId1"/>
          <a:stretch>
            <a:fillRect/>
          </a:stretch>
        </p:blipFill>
        <p:spPr>
          <a:xfrm>
            <a:off x="1739650" y="1024950"/>
            <a:ext cx="1321702" cy="845425"/>
          </a:xfrm>
          <a:prstGeom prst="rect">
            <a:avLst/>
          </a:prstGeom>
          <a:noFill/>
          <a:ln>
            <a:noFill/>
          </a:ln>
        </p:spPr>
      </p:pic>
      <p:pic>
        <p:nvPicPr>
          <p:cNvPr id="70" name="Google Shape;70;p15"/>
          <p:cNvPicPr preferRelativeResize="0"/>
          <p:nvPr/>
        </p:nvPicPr>
        <p:blipFill>
          <a:blip r:embed="rId2"/>
          <a:stretch>
            <a:fillRect/>
          </a:stretch>
        </p:blipFill>
        <p:spPr>
          <a:xfrm>
            <a:off x="5892597" y="1208705"/>
            <a:ext cx="1895499" cy="467925"/>
          </a:xfrm>
          <a:prstGeom prst="rect">
            <a:avLst/>
          </a:prstGeom>
          <a:noFill/>
          <a:ln>
            <a:noFill/>
          </a:ln>
        </p:spPr>
      </p:pic>
      <p:sp>
        <p:nvSpPr>
          <p:cNvPr id="71" name="Google Shape;71;p15"/>
          <p:cNvSpPr txBox="1"/>
          <p:nvPr>
            <p:ph type="body" idx="1"/>
          </p:nvPr>
        </p:nvSpPr>
        <p:spPr>
          <a:xfrm>
            <a:off x="4547850" y="1811625"/>
            <a:ext cx="44781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GB"/>
              <a:t>Python</a:t>
            </a:r>
            <a:r>
              <a:rPr lang="en-GB"/>
              <a:t>, beginner-friendly</a:t>
            </a:r>
            <a:endParaRPr lang="en-GB"/>
          </a:p>
          <a:p>
            <a:pPr marL="457200" lvl="0" indent="-342900" algn="l" rtl="0">
              <a:spcBef>
                <a:spcPts val="0"/>
              </a:spcBef>
              <a:spcAft>
                <a:spcPts val="0"/>
              </a:spcAft>
              <a:buSzPts val="1800"/>
              <a:buChar char="●"/>
            </a:pPr>
            <a:r>
              <a:rPr lang="en-GB"/>
              <a:t>Dynamic computation graphs</a:t>
            </a:r>
            <a:endParaRPr lang="en-GB"/>
          </a:p>
          <a:p>
            <a:pPr marL="457200" lvl="0" indent="-342900" algn="l" rtl="0">
              <a:spcBef>
                <a:spcPts val="0"/>
              </a:spcBef>
              <a:spcAft>
                <a:spcPts val="0"/>
              </a:spcAft>
              <a:buSzPts val="1800"/>
              <a:buChar char="●"/>
            </a:pPr>
            <a:r>
              <a:rPr lang="en-GB"/>
              <a:t>Hugely popular in academia/research</a:t>
            </a:r>
            <a:endParaRPr lang="en-GB"/>
          </a:p>
          <a:p>
            <a:pPr marL="457200" lvl="0" indent="-342900" algn="l" rtl="0">
              <a:spcBef>
                <a:spcPts val="0"/>
              </a:spcBef>
              <a:spcAft>
                <a:spcPts val="0"/>
              </a:spcAft>
              <a:buSzPts val="1800"/>
              <a:buChar char="●"/>
            </a:pPr>
            <a:r>
              <a:rPr lang="en-GB"/>
              <a:t>Deployment with TorchScript &amp; ONNX</a:t>
            </a:r>
            <a:endParaRPr lang="en-GB"/>
          </a:p>
          <a:p>
            <a:pPr marL="0" lvl="0" indent="0" algn="l" rtl="0">
              <a:spcBef>
                <a:spcPts val="1200"/>
              </a:spcBef>
              <a:spcAft>
                <a:spcPts val="1200"/>
              </a:spcAft>
              <a:buNone/>
            </a:pPr>
          </a:p>
        </p:txBody>
      </p:sp>
      <p:cxnSp>
        <p:nvCxnSpPr>
          <p:cNvPr id="72" name="Google Shape;72;p15"/>
          <p:cNvCxnSpPr/>
          <p:nvPr/>
        </p:nvCxnSpPr>
        <p:spPr>
          <a:xfrm>
            <a:off x="4605050" y="1657825"/>
            <a:ext cx="0" cy="31599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Key Features</a:t>
            </a:r>
            <a:r>
              <a:rPr lang="en-US" altLang="en-GB"/>
              <a:t> (Continue)</a:t>
            </a:r>
            <a:endParaRPr lang="en-US" altLang="en-GB"/>
          </a:p>
        </p:txBody>
      </p:sp>
      <p:sp>
        <p:nvSpPr>
          <p:cNvPr id="68" name="Google Shape;68;p15"/>
          <p:cNvSpPr txBox="1"/>
          <p:nvPr>
            <p:ph type="body" idx="1"/>
          </p:nvPr>
        </p:nvSpPr>
        <p:spPr>
          <a:xfrm>
            <a:off x="-100490" y="1485870"/>
            <a:ext cx="5001900" cy="3416400"/>
          </a:xfrm>
          <a:prstGeom prst="rect">
            <a:avLst/>
          </a:prstGeom>
        </p:spPr>
        <p:txBody>
          <a:bodyPr spcFirstLastPara="1" wrap="square" lIns="91425" tIns="91425" rIns="91425" bIns="91425" anchor="t" anchorCtr="0">
            <a:normAutofit fontScale="80000"/>
          </a:bodyPr>
          <a:lstStyle/>
          <a:p>
            <a:pPr marL="457200" lvl="0" indent="-342900" algn="l" rtl="0">
              <a:spcBef>
                <a:spcPts val="0"/>
              </a:spcBef>
              <a:spcAft>
                <a:spcPts val="0"/>
              </a:spcAft>
              <a:buSzPts val="1800"/>
              <a:buChar char="●"/>
            </a:pPr>
            <a:r>
              <a:rPr lang="en-US" altLang="zh-CN" b="1"/>
              <a:t>TensorBoard visualization tool </a:t>
            </a:r>
            <a:endParaRPr lang="en-US" altLang="en-US" b="1"/>
          </a:p>
          <a:p>
            <a:pPr marL="571500" lvl="1" indent="0" algn="l" rtl="0">
              <a:spcBef>
                <a:spcPts val="0"/>
              </a:spcBef>
              <a:spcAft>
                <a:spcPts val="0"/>
              </a:spcAft>
              <a:buSzPts val="1800"/>
              <a:buNone/>
            </a:pPr>
            <a:r>
              <a:rPr lang="en-US" altLang="zh-CN" sz="1500"/>
              <a:t>- Visualizes training metrics and model structure for easier monitoring.</a:t>
            </a:r>
            <a:endParaRPr lang="en-US" altLang="zh-CN"/>
          </a:p>
          <a:p>
            <a:pPr marL="457200" lvl="0" indent="-342900" algn="l" rtl="0">
              <a:spcBef>
                <a:spcPts val="0"/>
              </a:spcBef>
              <a:spcAft>
                <a:spcPts val="0"/>
              </a:spcAft>
              <a:buSzPts val="1800"/>
              <a:buChar char="●"/>
            </a:pPr>
            <a:endParaRPr lang="en-US" altLang="zh-CN"/>
          </a:p>
          <a:p>
            <a:pPr marL="457200" lvl="0" indent="-342900" algn="l" rtl="0">
              <a:spcBef>
                <a:spcPts val="0"/>
              </a:spcBef>
              <a:spcAft>
                <a:spcPts val="0"/>
              </a:spcAft>
              <a:buSzPts val="1800"/>
              <a:buChar char="●"/>
            </a:pPr>
            <a:r>
              <a:rPr lang="en-US" altLang="zh-CN" b="1"/>
              <a:t>Keras high-level API </a:t>
            </a:r>
            <a:endParaRPr lang="en-US" altLang="zh-CN" b="1"/>
          </a:p>
          <a:p>
            <a:pPr marL="571500" lvl="1" indent="0" algn="l" rtl="0">
              <a:spcBef>
                <a:spcPts val="0"/>
              </a:spcBef>
              <a:spcAft>
                <a:spcPts val="0"/>
              </a:spcAft>
              <a:buSzPts val="1800"/>
              <a:buNone/>
            </a:pPr>
            <a:r>
              <a:rPr lang="en-US" altLang="zh-CN" sz="1500"/>
              <a:t>- Simplifies model building, reducing code complexity and development time.</a:t>
            </a:r>
            <a:endParaRPr lang="en-US" altLang="zh-CN" sz="1500"/>
          </a:p>
          <a:p>
            <a:pPr marL="457200" lvl="0" indent="-342900" algn="l" rtl="0">
              <a:spcBef>
                <a:spcPts val="0"/>
              </a:spcBef>
              <a:spcAft>
                <a:spcPts val="0"/>
              </a:spcAft>
              <a:buSzPts val="1800"/>
              <a:buChar char="●"/>
            </a:pPr>
            <a:endParaRPr lang="en-US" altLang="zh-CN"/>
          </a:p>
          <a:p>
            <a:pPr marL="457200" lvl="0" indent="-342900" algn="l" rtl="0">
              <a:spcBef>
                <a:spcPts val="0"/>
              </a:spcBef>
              <a:spcAft>
                <a:spcPts val="0"/>
              </a:spcAft>
              <a:buSzPts val="1800"/>
              <a:buChar char="●"/>
            </a:pPr>
            <a:r>
              <a:rPr lang="en-US" altLang="zh-CN" b="1"/>
              <a:t>Cross-platform (mobile, web) </a:t>
            </a:r>
            <a:endParaRPr lang="en-US" altLang="zh-CN" b="1"/>
          </a:p>
          <a:p>
            <a:pPr marL="571500" lvl="1" indent="0" algn="l" rtl="0">
              <a:spcBef>
                <a:spcPts val="0"/>
              </a:spcBef>
              <a:spcAft>
                <a:spcPts val="0"/>
              </a:spcAft>
              <a:buSzPts val="1800"/>
              <a:buNone/>
            </a:pPr>
            <a:r>
              <a:rPr lang="en-US" altLang="zh-CN" sz="1500"/>
              <a:t>- Allows deployment on mobile devices and web browsers.</a:t>
            </a:r>
            <a:endParaRPr lang="en-US" altLang="zh-CN" sz="1500"/>
          </a:p>
          <a:p>
            <a:pPr marL="457200" lvl="0" indent="-342900" algn="l" rtl="0">
              <a:spcBef>
                <a:spcPts val="0"/>
              </a:spcBef>
              <a:spcAft>
                <a:spcPts val="0"/>
              </a:spcAft>
              <a:buSzPts val="1800"/>
              <a:buChar char="●"/>
            </a:pPr>
            <a:endParaRPr lang="en-US" altLang="zh-CN" sz="2000"/>
          </a:p>
          <a:p>
            <a:pPr marL="457200" lvl="0" indent="-342900" algn="l" rtl="0">
              <a:spcBef>
                <a:spcPts val="0"/>
              </a:spcBef>
              <a:spcAft>
                <a:spcPts val="0"/>
              </a:spcAft>
              <a:buSzPts val="1800"/>
              <a:buChar char="●"/>
            </a:pPr>
            <a:r>
              <a:rPr lang="en-US" altLang="zh-CN" b="1"/>
              <a:t>Distributed multi-GPU/TPU </a:t>
            </a:r>
            <a:endParaRPr lang="en-US" altLang="zh-CN" b="1"/>
          </a:p>
          <a:p>
            <a:pPr marL="571500" lvl="1" indent="0" algn="l" rtl="0">
              <a:spcBef>
                <a:spcPts val="0"/>
              </a:spcBef>
              <a:spcAft>
                <a:spcPts val="0"/>
              </a:spcAft>
              <a:buSzPts val="1800"/>
              <a:buNone/>
            </a:pPr>
            <a:r>
              <a:rPr lang="en-US" altLang="zh-CN" sz="1500"/>
              <a:t>- Supports large-scale model training across multiple GPUs or TPUs.</a:t>
            </a:r>
            <a:endParaRPr lang="en-US" altLang="zh-CN" sz="1500"/>
          </a:p>
        </p:txBody>
      </p:sp>
      <p:pic>
        <p:nvPicPr>
          <p:cNvPr id="69" name="Google Shape;69;p15"/>
          <p:cNvPicPr preferRelativeResize="0"/>
          <p:nvPr/>
        </p:nvPicPr>
        <p:blipFill>
          <a:blip r:embed="rId1"/>
          <a:stretch>
            <a:fillRect/>
          </a:stretch>
        </p:blipFill>
        <p:spPr>
          <a:xfrm>
            <a:off x="1739650" y="812860"/>
            <a:ext cx="1321702" cy="845425"/>
          </a:xfrm>
          <a:prstGeom prst="rect">
            <a:avLst/>
          </a:prstGeom>
          <a:noFill/>
          <a:ln>
            <a:noFill/>
          </a:ln>
        </p:spPr>
      </p:pic>
      <p:pic>
        <p:nvPicPr>
          <p:cNvPr id="70" name="Google Shape;70;p15"/>
          <p:cNvPicPr preferRelativeResize="0"/>
          <p:nvPr/>
        </p:nvPicPr>
        <p:blipFill>
          <a:blip r:embed="rId2"/>
          <a:stretch>
            <a:fillRect/>
          </a:stretch>
        </p:blipFill>
        <p:spPr>
          <a:xfrm>
            <a:off x="5892597" y="1018205"/>
            <a:ext cx="1895499" cy="467925"/>
          </a:xfrm>
          <a:prstGeom prst="rect">
            <a:avLst/>
          </a:prstGeom>
          <a:noFill/>
          <a:ln>
            <a:noFill/>
          </a:ln>
        </p:spPr>
      </p:pic>
      <p:sp>
        <p:nvSpPr>
          <p:cNvPr id="71" name="Google Shape;71;p15"/>
          <p:cNvSpPr txBox="1"/>
          <p:nvPr>
            <p:ph type="body" idx="1"/>
          </p:nvPr>
        </p:nvSpPr>
        <p:spPr>
          <a:xfrm>
            <a:off x="4605020" y="1485900"/>
            <a:ext cx="4478020" cy="3569970"/>
          </a:xfrm>
          <a:prstGeom prst="rect">
            <a:avLst/>
          </a:prstGeom>
        </p:spPr>
        <p:txBody>
          <a:bodyPr spcFirstLastPara="1" wrap="square" lIns="91425" tIns="91425" rIns="91425" bIns="91425" anchor="t" anchorCtr="0">
            <a:normAutofit fontScale="70000"/>
          </a:bodyPr>
          <a:lstStyle/>
          <a:p>
            <a:pPr marL="457200" lvl="0" indent="-342900" algn="l" rtl="0">
              <a:spcBef>
                <a:spcPts val="0"/>
              </a:spcBef>
              <a:spcAft>
                <a:spcPts val="0"/>
              </a:spcAft>
              <a:buSzPts val="1800"/>
              <a:buChar char="●"/>
            </a:pPr>
            <a:r>
              <a:rPr lang="en-US" altLang="zh-CN" b="1"/>
              <a:t>Strong debugging support </a:t>
            </a:r>
            <a:endParaRPr lang="en-US" altLang="zh-CN" b="1"/>
          </a:p>
          <a:p>
            <a:pPr marL="571500" lvl="1" indent="0" algn="l" rtl="0">
              <a:spcBef>
                <a:spcPts val="0"/>
              </a:spcBef>
              <a:spcAft>
                <a:spcPts val="0"/>
              </a:spcAft>
              <a:buSzPts val="1800"/>
              <a:buNone/>
            </a:pPr>
            <a:r>
              <a:rPr lang="en-US" altLang="zh-CN" sz="1700"/>
              <a:t>- Integrates with Python tools to debug and test models efficiently.</a:t>
            </a:r>
            <a:endParaRPr lang="en-US" altLang="zh-CN" sz="1700"/>
          </a:p>
          <a:p>
            <a:pPr marL="457200" lvl="0" indent="-342900" algn="l" rtl="0">
              <a:spcBef>
                <a:spcPts val="0"/>
              </a:spcBef>
              <a:spcAft>
                <a:spcPts val="0"/>
              </a:spcAft>
              <a:buSzPts val="1800"/>
              <a:buChar char="●"/>
            </a:pPr>
            <a:endParaRPr lang="en-US" altLang="zh-CN"/>
          </a:p>
          <a:p>
            <a:pPr marL="457200" lvl="0" indent="-342900" algn="l" rtl="0">
              <a:spcBef>
                <a:spcPts val="0"/>
              </a:spcBef>
              <a:spcAft>
                <a:spcPts val="0"/>
              </a:spcAft>
              <a:buSzPts val="1800"/>
              <a:buChar char="●"/>
            </a:pPr>
            <a:r>
              <a:rPr lang="en-US" altLang="zh-CN" b="1"/>
              <a:t>TorchVision, TorchAudio, TorchText </a:t>
            </a:r>
            <a:endParaRPr lang="en-US" altLang="zh-CN" b="1"/>
          </a:p>
          <a:p>
            <a:pPr marL="571500" lvl="1" indent="0" algn="l" rtl="0">
              <a:spcBef>
                <a:spcPts val="0"/>
              </a:spcBef>
              <a:spcAft>
                <a:spcPts val="0"/>
              </a:spcAft>
              <a:buSzPts val="1800"/>
              <a:buNone/>
            </a:pPr>
            <a:r>
              <a:rPr lang="en-US" altLang="zh-CN" sz="1700"/>
              <a:t>- Provides ready-made libraries for vision, audio, and NLP tasks.</a:t>
            </a:r>
            <a:endParaRPr lang="en-US" altLang="zh-CN" sz="1700"/>
          </a:p>
          <a:p>
            <a:pPr marL="457200" lvl="0" indent="-342900" algn="l" rtl="0">
              <a:spcBef>
                <a:spcPts val="0"/>
              </a:spcBef>
              <a:spcAft>
                <a:spcPts val="0"/>
              </a:spcAft>
              <a:buSzPts val="1800"/>
              <a:buChar char="●"/>
            </a:pPr>
            <a:endParaRPr lang="en-US" altLang="zh-CN"/>
          </a:p>
          <a:p>
            <a:pPr marL="457200" lvl="0" indent="-342900" algn="l" rtl="0">
              <a:spcBef>
                <a:spcPts val="0"/>
              </a:spcBef>
              <a:spcAft>
                <a:spcPts val="0"/>
              </a:spcAft>
              <a:buSzPts val="1800"/>
              <a:buChar char="●"/>
            </a:pPr>
            <a:r>
              <a:rPr lang="en-US" altLang="zh-CN" b="1"/>
              <a:t>Fast research prototyping </a:t>
            </a:r>
            <a:endParaRPr lang="en-US" altLang="zh-CN" b="1"/>
          </a:p>
          <a:p>
            <a:pPr marL="571500" lvl="1" indent="0" algn="l" rtl="0">
              <a:spcBef>
                <a:spcPts val="0"/>
              </a:spcBef>
              <a:spcAft>
                <a:spcPts val="0"/>
              </a:spcAft>
              <a:buSzPts val="1800"/>
              <a:buNone/>
            </a:pPr>
            <a:r>
              <a:rPr lang="en-US" altLang="zh-CN" sz="1700"/>
              <a:t>- Enables quick experimentation with new model designs.</a:t>
            </a:r>
            <a:endParaRPr lang="en-US" altLang="zh-CN" sz="1700"/>
          </a:p>
          <a:p>
            <a:pPr marL="457200" lvl="0" indent="-342900" algn="l" rtl="0">
              <a:spcBef>
                <a:spcPts val="0"/>
              </a:spcBef>
              <a:spcAft>
                <a:spcPts val="0"/>
              </a:spcAft>
              <a:buSzPts val="1800"/>
              <a:buChar char="●"/>
            </a:pPr>
            <a:endParaRPr lang="en-US" altLang="zh-CN"/>
          </a:p>
          <a:p>
            <a:pPr marL="457200" lvl="0" indent="-342900" algn="l" rtl="0">
              <a:spcBef>
                <a:spcPts val="0"/>
              </a:spcBef>
              <a:spcAft>
                <a:spcPts val="0"/>
              </a:spcAft>
              <a:buSzPts val="1800"/>
              <a:buChar char="●"/>
            </a:pPr>
            <a:r>
              <a:rPr lang="en-US" altLang="zh-CN" b="1"/>
              <a:t>Widely used in papers </a:t>
            </a:r>
            <a:endParaRPr lang="en-US" altLang="zh-CN" b="1"/>
          </a:p>
          <a:p>
            <a:pPr marL="571500" lvl="1" indent="0" algn="l" rtl="0">
              <a:spcBef>
                <a:spcPts val="0"/>
              </a:spcBef>
              <a:spcAft>
                <a:spcPts val="0"/>
              </a:spcAft>
              <a:buSzPts val="1800"/>
              <a:buNone/>
            </a:pPr>
            <a:r>
              <a:rPr lang="en-US" altLang="zh-CN" sz="1700"/>
              <a:t>- Dominates research publications, keeping models relevant in academia.</a:t>
            </a:r>
            <a:endParaRPr lang="en-US" altLang="zh-CN" sz="1700"/>
          </a:p>
        </p:txBody>
      </p:sp>
      <p:cxnSp>
        <p:nvCxnSpPr>
          <p:cNvPr id="72" name="Google Shape;72;p15"/>
          <p:cNvCxnSpPr/>
          <p:nvPr/>
        </p:nvCxnSpPr>
        <p:spPr>
          <a:xfrm>
            <a:off x="4778405" y="1657825"/>
            <a:ext cx="0" cy="31599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Real-world Applications</a:t>
            </a:r>
            <a:endParaRPr lang="en-GB"/>
          </a:p>
        </p:txBody>
      </p:sp>
      <p:sp>
        <p:nvSpPr>
          <p:cNvPr id="78" name="Google Shape;78;p16"/>
          <p:cNvSpPr txBox="1"/>
          <p:nvPr>
            <p:ph type="body" idx="1"/>
          </p:nvPr>
        </p:nvSpPr>
        <p:spPr>
          <a:xfrm>
            <a:off x="212550" y="1811625"/>
            <a:ext cx="41523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GB"/>
              <a:t>Google Translate</a:t>
            </a:r>
            <a:endParaRPr lang="en-GB"/>
          </a:p>
          <a:p>
            <a:pPr marL="457200" lvl="0" indent="-342900" algn="l" rtl="0">
              <a:spcBef>
                <a:spcPts val="0"/>
              </a:spcBef>
              <a:spcAft>
                <a:spcPts val="0"/>
              </a:spcAft>
              <a:buSzPts val="1800"/>
              <a:buChar char="●"/>
            </a:pPr>
            <a:r>
              <a:rPr lang="en-GB"/>
              <a:t>Airbnb recommendations</a:t>
            </a:r>
            <a:endParaRPr lang="en-GB"/>
          </a:p>
          <a:p>
            <a:pPr marL="457200" lvl="0" indent="-342900" algn="l" rtl="0">
              <a:spcBef>
                <a:spcPts val="0"/>
              </a:spcBef>
              <a:spcAft>
                <a:spcPts val="0"/>
              </a:spcAft>
              <a:buSzPts val="1800"/>
              <a:buChar char="●"/>
            </a:pPr>
            <a:r>
              <a:rPr lang="en-GB"/>
              <a:t>Twitter ML systems</a:t>
            </a:r>
            <a:endParaRPr lang="en-GB"/>
          </a:p>
          <a:p>
            <a:pPr marL="0" lvl="0" indent="0" algn="l" rtl="0">
              <a:spcBef>
                <a:spcPts val="1200"/>
              </a:spcBef>
              <a:spcAft>
                <a:spcPts val="0"/>
              </a:spcAft>
              <a:buNone/>
            </a:pPr>
          </a:p>
          <a:p>
            <a:pPr marL="0" lvl="0" indent="0" algn="l" rtl="0">
              <a:spcBef>
                <a:spcPts val="1200"/>
              </a:spcBef>
              <a:spcAft>
                <a:spcPts val="1200"/>
              </a:spcAft>
              <a:buNone/>
            </a:pPr>
          </a:p>
        </p:txBody>
      </p:sp>
      <p:sp>
        <p:nvSpPr>
          <p:cNvPr id="79" name="Google Shape;79;p16"/>
          <p:cNvSpPr txBox="1"/>
          <p:nvPr>
            <p:ph type="body" idx="1"/>
          </p:nvPr>
        </p:nvSpPr>
        <p:spPr>
          <a:xfrm>
            <a:off x="4547850" y="1811625"/>
            <a:ext cx="44781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GB"/>
              <a:t>Hugging Face Transformers</a:t>
            </a:r>
            <a:endParaRPr lang="en-GB"/>
          </a:p>
          <a:p>
            <a:pPr marL="457200" lvl="0" indent="-342900" algn="l" rtl="0">
              <a:spcBef>
                <a:spcPts val="0"/>
              </a:spcBef>
              <a:spcAft>
                <a:spcPts val="0"/>
              </a:spcAft>
              <a:buSzPts val="1800"/>
              <a:buChar char="●"/>
            </a:pPr>
            <a:r>
              <a:rPr lang="en-GB"/>
              <a:t>Tesla Autopilot</a:t>
            </a:r>
            <a:endParaRPr lang="en-GB"/>
          </a:p>
          <a:p>
            <a:pPr marL="457200" lvl="0" indent="-342900" algn="l" rtl="0">
              <a:spcBef>
                <a:spcPts val="0"/>
              </a:spcBef>
              <a:spcAft>
                <a:spcPts val="0"/>
              </a:spcAft>
              <a:buSzPts val="1800"/>
              <a:buChar char="●"/>
            </a:pPr>
            <a:r>
              <a:rPr lang="en-GB"/>
              <a:t>Meta AI research projects</a:t>
            </a:r>
            <a:endParaRPr lang="en-GB"/>
          </a:p>
          <a:p>
            <a:pPr marL="0" lvl="0" indent="0" algn="l" rtl="0">
              <a:spcBef>
                <a:spcPts val="1200"/>
              </a:spcBef>
              <a:spcAft>
                <a:spcPts val="1200"/>
              </a:spcAft>
              <a:buNone/>
            </a:pPr>
          </a:p>
        </p:txBody>
      </p:sp>
      <p:cxnSp>
        <p:nvCxnSpPr>
          <p:cNvPr id="80" name="Google Shape;80;p16"/>
          <p:cNvCxnSpPr/>
          <p:nvPr/>
        </p:nvCxnSpPr>
        <p:spPr>
          <a:xfrm>
            <a:off x="4254278" y="1657825"/>
            <a:ext cx="0" cy="3159900"/>
          </a:xfrm>
          <a:prstGeom prst="straightConnector1">
            <a:avLst/>
          </a:prstGeom>
          <a:noFill/>
          <a:ln w="9525" cap="flat" cmpd="sng">
            <a:solidFill>
              <a:schemeClr val="dk2"/>
            </a:solidFill>
            <a:prstDash val="solid"/>
            <a:round/>
            <a:headEnd type="none" w="med" len="med"/>
            <a:tailEnd type="none" w="med" len="med"/>
          </a:ln>
        </p:spPr>
      </p:cxnSp>
      <p:pic>
        <p:nvPicPr>
          <p:cNvPr id="81" name="Google Shape;81;p16"/>
          <p:cNvPicPr preferRelativeResize="0"/>
          <p:nvPr/>
        </p:nvPicPr>
        <p:blipFill>
          <a:blip r:embed="rId1"/>
          <a:stretch>
            <a:fillRect/>
          </a:stretch>
        </p:blipFill>
        <p:spPr>
          <a:xfrm>
            <a:off x="481775" y="3233475"/>
            <a:ext cx="807649" cy="807649"/>
          </a:xfrm>
          <a:prstGeom prst="rect">
            <a:avLst/>
          </a:prstGeom>
          <a:noFill/>
          <a:ln>
            <a:noFill/>
          </a:ln>
        </p:spPr>
      </p:pic>
      <p:pic>
        <p:nvPicPr>
          <p:cNvPr id="82" name="Google Shape;82;p16"/>
          <p:cNvPicPr preferRelativeResize="0"/>
          <p:nvPr/>
        </p:nvPicPr>
        <p:blipFill>
          <a:blip r:embed="rId2"/>
          <a:stretch>
            <a:fillRect/>
          </a:stretch>
        </p:blipFill>
        <p:spPr>
          <a:xfrm>
            <a:off x="1601150" y="3949800"/>
            <a:ext cx="807649" cy="807649"/>
          </a:xfrm>
          <a:prstGeom prst="rect">
            <a:avLst/>
          </a:prstGeom>
          <a:noFill/>
          <a:ln>
            <a:noFill/>
          </a:ln>
        </p:spPr>
      </p:pic>
      <p:pic>
        <p:nvPicPr>
          <p:cNvPr id="83" name="Google Shape;83;p16"/>
          <p:cNvPicPr preferRelativeResize="0"/>
          <p:nvPr/>
        </p:nvPicPr>
        <p:blipFill>
          <a:blip r:embed="rId3"/>
          <a:stretch>
            <a:fillRect/>
          </a:stretch>
        </p:blipFill>
        <p:spPr>
          <a:xfrm>
            <a:off x="2570840" y="3233475"/>
            <a:ext cx="695586" cy="572699"/>
          </a:xfrm>
          <a:prstGeom prst="rect">
            <a:avLst/>
          </a:prstGeom>
          <a:noFill/>
          <a:ln>
            <a:noFill/>
          </a:ln>
        </p:spPr>
      </p:pic>
      <p:pic>
        <p:nvPicPr>
          <p:cNvPr id="84" name="Google Shape;84;p16"/>
          <p:cNvPicPr preferRelativeResize="0"/>
          <p:nvPr/>
        </p:nvPicPr>
        <p:blipFill>
          <a:blip r:embed="rId4"/>
          <a:stretch>
            <a:fillRect/>
          </a:stretch>
        </p:blipFill>
        <p:spPr>
          <a:xfrm>
            <a:off x="4973475" y="3075538"/>
            <a:ext cx="888575" cy="888575"/>
          </a:xfrm>
          <a:prstGeom prst="rect">
            <a:avLst/>
          </a:prstGeom>
          <a:noFill/>
          <a:ln>
            <a:noFill/>
          </a:ln>
        </p:spPr>
      </p:pic>
      <p:pic>
        <p:nvPicPr>
          <p:cNvPr id="85" name="Google Shape;85;p16"/>
          <p:cNvPicPr preferRelativeResize="0"/>
          <p:nvPr/>
        </p:nvPicPr>
        <p:blipFill>
          <a:blip r:embed="rId5"/>
          <a:stretch>
            <a:fillRect/>
          </a:stretch>
        </p:blipFill>
        <p:spPr>
          <a:xfrm>
            <a:off x="6099750" y="3745625"/>
            <a:ext cx="807651" cy="807651"/>
          </a:xfrm>
          <a:prstGeom prst="rect">
            <a:avLst/>
          </a:prstGeom>
          <a:noFill/>
          <a:ln>
            <a:noFill/>
          </a:ln>
        </p:spPr>
      </p:pic>
      <p:pic>
        <p:nvPicPr>
          <p:cNvPr id="86" name="Google Shape;86;p16"/>
          <p:cNvPicPr preferRelativeResize="0"/>
          <p:nvPr/>
        </p:nvPicPr>
        <p:blipFill>
          <a:blip r:embed="rId6"/>
          <a:stretch>
            <a:fillRect/>
          </a:stretch>
        </p:blipFill>
        <p:spPr>
          <a:xfrm>
            <a:off x="7693526" y="3193013"/>
            <a:ext cx="888576" cy="888576"/>
          </a:xfrm>
          <a:prstGeom prst="rect">
            <a:avLst/>
          </a:prstGeom>
          <a:noFill/>
          <a:ln>
            <a:noFill/>
          </a:ln>
        </p:spPr>
      </p:pic>
      <p:pic>
        <p:nvPicPr>
          <p:cNvPr id="87" name="Google Shape;87;p16"/>
          <p:cNvPicPr preferRelativeResize="0"/>
          <p:nvPr/>
        </p:nvPicPr>
        <p:blipFill>
          <a:blip r:embed="rId7"/>
          <a:stretch>
            <a:fillRect/>
          </a:stretch>
        </p:blipFill>
        <p:spPr>
          <a:xfrm>
            <a:off x="1328737" y="1024950"/>
            <a:ext cx="1321702" cy="845425"/>
          </a:xfrm>
          <a:prstGeom prst="rect">
            <a:avLst/>
          </a:prstGeom>
          <a:noFill/>
          <a:ln>
            <a:noFill/>
          </a:ln>
        </p:spPr>
      </p:pic>
      <p:pic>
        <p:nvPicPr>
          <p:cNvPr id="88" name="Google Shape;88;p16"/>
          <p:cNvPicPr preferRelativeResize="0"/>
          <p:nvPr/>
        </p:nvPicPr>
        <p:blipFill>
          <a:blip r:embed="rId8"/>
          <a:stretch>
            <a:fillRect/>
          </a:stretch>
        </p:blipFill>
        <p:spPr>
          <a:xfrm>
            <a:off x="5481684" y="1208705"/>
            <a:ext cx="1895499" cy="467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92" name="Shape 92"/>
        <p:cNvGrpSpPr/>
        <p:nvPr/>
      </p:nvGrpSpPr>
      <p:grpSpPr>
        <a:xfrm>
          <a:off x="0" y="0"/>
          <a:ext cx="0" cy="0"/>
          <a:chOff x="0" y="0"/>
          <a:chExt cx="0" cy="0"/>
        </a:xfrm>
      </p:grpSpPr>
      <p:sp>
        <p:nvSpPr>
          <p:cNvPr id="93" name="Google Shape;93;p17"/>
          <p:cNvSpPr txBox="1"/>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Side-by-Side Comparison</a:t>
            </a:r>
            <a:endParaRPr lang="en-GB"/>
          </a:p>
        </p:txBody>
      </p:sp>
      <p:graphicFrame>
        <p:nvGraphicFramePr>
          <p:cNvPr id="94" name="Google Shape;94;p17"/>
          <p:cNvGraphicFramePr/>
          <p:nvPr/>
        </p:nvGraphicFramePr>
        <p:xfrm>
          <a:off x="311700" y="1115450"/>
          <a:ext cx="8616600" cy="3791150"/>
        </p:xfrm>
        <a:graphic>
          <a:graphicData uri="http://schemas.openxmlformats.org/drawingml/2006/table">
            <a:tbl>
              <a:tblPr>
                <a:noFill/>
                <a:tableStyleId>{DF4EC7E0-247E-4DCD-9E8C-67A3034214B7}</a:tableStyleId>
              </a:tblPr>
              <a:tblGrid>
                <a:gridCol w="1795350"/>
                <a:gridCol w="3552325"/>
                <a:gridCol w="3268925"/>
              </a:tblGrid>
              <a:tr h="506350">
                <a:tc>
                  <a:txBody>
                    <a:bodyPr/>
                    <a:lstStyle/>
                    <a:p>
                      <a:pPr marL="0" lvl="0" indent="0" algn="ctr" rtl="0">
                        <a:spcBef>
                          <a:spcPts val="0"/>
                        </a:spcBef>
                        <a:spcAft>
                          <a:spcPts val="0"/>
                        </a:spcAft>
                        <a:buNone/>
                      </a:pPr>
                      <a:r>
                        <a:rPr lang="en-GB" sz="1800" b="1"/>
                        <a:t>Category</a:t>
                      </a:r>
                      <a:endParaRPr sz="1800" b="1"/>
                    </a:p>
                  </a:txBody>
                  <a:tcPr marL="91425" marR="91425" marT="91425" marB="91425"/>
                </a:tc>
                <a:tc>
                  <a:txBody>
                    <a:bodyPr/>
                    <a:lstStyle/>
                    <a:p>
                      <a:pPr marL="0" lvl="0" indent="0" algn="ctr" rtl="0">
                        <a:spcBef>
                          <a:spcPts val="0"/>
                        </a:spcBef>
                        <a:spcAft>
                          <a:spcPts val="0"/>
                        </a:spcAft>
                        <a:buNone/>
                      </a:pPr>
                      <a:r>
                        <a:rPr lang="en-GB" sz="1800" b="1"/>
                        <a:t>TensorFlow</a:t>
                      </a:r>
                      <a:endParaRPr sz="1800" b="1"/>
                    </a:p>
                  </a:txBody>
                  <a:tcPr marL="91425" marR="91425" marT="91425" marB="91425"/>
                </a:tc>
                <a:tc>
                  <a:txBody>
                    <a:bodyPr/>
                    <a:lstStyle/>
                    <a:p>
                      <a:pPr marL="0" lvl="0" indent="0" algn="ctr" rtl="0">
                        <a:spcBef>
                          <a:spcPts val="0"/>
                        </a:spcBef>
                        <a:spcAft>
                          <a:spcPts val="0"/>
                        </a:spcAft>
                        <a:buNone/>
                      </a:pPr>
                      <a:r>
                        <a:rPr lang="en-GB" sz="1800" b="1"/>
                        <a:t>PyTorch</a:t>
                      </a:r>
                      <a:endParaRPr sz="1800" b="1"/>
                    </a:p>
                  </a:txBody>
                  <a:tcPr marL="91425" marR="91425" marT="91425" marB="91425"/>
                </a:tc>
              </a:tr>
              <a:tr h="821200">
                <a:tc>
                  <a:txBody>
                    <a:bodyPr/>
                    <a:lstStyle/>
                    <a:p>
                      <a:pPr marL="0" lvl="0" indent="0" algn="l" rtl="0">
                        <a:spcBef>
                          <a:spcPts val="0"/>
                        </a:spcBef>
                        <a:spcAft>
                          <a:spcPts val="0"/>
                        </a:spcAft>
                        <a:buNone/>
                      </a:pPr>
                      <a:r>
                        <a:rPr lang="en-GB" sz="1600"/>
                        <a:t>Ease of Use</a:t>
                      </a:r>
                      <a:endParaRPr sz="1600"/>
                    </a:p>
                  </a:txBody>
                  <a:tcPr marL="91425" marR="91425" marT="91425" marB="91425"/>
                </a:tc>
                <a:tc>
                  <a:txBody>
                    <a:bodyPr/>
                    <a:lstStyle/>
                    <a:p>
                      <a:pPr marL="0" lvl="0" indent="0" algn="l" rtl="0">
                        <a:spcBef>
                          <a:spcPts val="0"/>
                        </a:spcBef>
                        <a:spcAft>
                          <a:spcPts val="0"/>
                        </a:spcAft>
                        <a:buNone/>
                      </a:pPr>
                      <a:r>
                        <a:rPr lang="en-GB" sz="1600"/>
                        <a:t>Steeper learning curve</a:t>
                      </a:r>
                      <a:endParaRPr sz="1600"/>
                    </a:p>
                  </a:txBody>
                  <a:tcPr marL="91425" marR="91425" marT="91425" marB="91425"/>
                </a:tc>
                <a:tc>
                  <a:txBody>
                    <a:bodyPr/>
                    <a:lstStyle/>
                    <a:p>
                      <a:pPr marL="0" lvl="0" indent="0" algn="l" rtl="0">
                        <a:spcBef>
                          <a:spcPts val="0"/>
                        </a:spcBef>
                        <a:spcAft>
                          <a:spcPts val="0"/>
                        </a:spcAft>
                        <a:buNone/>
                      </a:pPr>
                      <a:r>
                        <a:rPr lang="en-GB" sz="1600"/>
                        <a:t>Pythonic, easier to learn</a:t>
                      </a:r>
                      <a:endParaRPr sz="1600"/>
                    </a:p>
                  </a:txBody>
                  <a:tcPr marL="91425" marR="91425" marT="91425" marB="91425"/>
                </a:tc>
              </a:tr>
              <a:tr h="821200">
                <a:tc>
                  <a:txBody>
                    <a:bodyPr/>
                    <a:lstStyle/>
                    <a:p>
                      <a:pPr marL="0" lvl="0" indent="0" algn="l" rtl="0">
                        <a:spcBef>
                          <a:spcPts val="0"/>
                        </a:spcBef>
                        <a:spcAft>
                          <a:spcPts val="0"/>
                        </a:spcAft>
                        <a:buNone/>
                      </a:pPr>
                      <a:r>
                        <a:rPr lang="en-GB" sz="1600"/>
                        <a:t>Performance</a:t>
                      </a:r>
                      <a:endParaRPr sz="1600"/>
                    </a:p>
                  </a:txBody>
                  <a:tcPr marL="91425" marR="91425" marT="91425" marB="91425"/>
                </a:tc>
                <a:tc>
                  <a:txBody>
                    <a:bodyPr/>
                    <a:lstStyle/>
                    <a:p>
                      <a:pPr marL="0" lvl="0" indent="0" algn="l" rtl="0">
                        <a:spcBef>
                          <a:spcPts val="0"/>
                        </a:spcBef>
                        <a:spcAft>
                          <a:spcPts val="0"/>
                        </a:spcAft>
                        <a:buNone/>
                      </a:pPr>
                      <a:r>
                        <a:rPr lang="en-GB" sz="1600"/>
                        <a:t>Optimized for large systems/TPUs</a:t>
                      </a:r>
                      <a:endParaRPr sz="1600"/>
                    </a:p>
                  </a:txBody>
                  <a:tcPr marL="91425" marR="91425" marT="91425" marB="91425"/>
                </a:tc>
                <a:tc>
                  <a:txBody>
                    <a:bodyPr/>
                    <a:lstStyle/>
                    <a:p>
                      <a:pPr marL="0" lvl="0" indent="0" algn="l" rtl="0">
                        <a:spcBef>
                          <a:spcPts val="0"/>
                        </a:spcBef>
                        <a:spcAft>
                          <a:spcPts val="0"/>
                        </a:spcAft>
                        <a:buNone/>
                      </a:pPr>
                      <a:r>
                        <a:rPr lang="en-GB" sz="1600"/>
                        <a:t>Great for prototyping, GPUs</a:t>
                      </a:r>
                      <a:endParaRPr sz="1600"/>
                    </a:p>
                  </a:txBody>
                  <a:tcPr marL="91425" marR="91425" marT="91425" marB="91425"/>
                </a:tc>
              </a:tr>
              <a:tr h="821200">
                <a:tc>
                  <a:txBody>
                    <a:bodyPr/>
                    <a:lstStyle/>
                    <a:p>
                      <a:pPr marL="0" lvl="0" indent="0" algn="l" rtl="0">
                        <a:spcBef>
                          <a:spcPts val="0"/>
                        </a:spcBef>
                        <a:spcAft>
                          <a:spcPts val="0"/>
                        </a:spcAft>
                        <a:buNone/>
                      </a:pPr>
                      <a:r>
                        <a:rPr lang="en-GB" sz="1600"/>
                        <a:t>Community</a:t>
                      </a:r>
                      <a:endParaRPr sz="1600"/>
                    </a:p>
                  </a:txBody>
                  <a:tcPr marL="91425" marR="91425" marT="91425" marB="91425"/>
                </a:tc>
                <a:tc>
                  <a:txBody>
                    <a:bodyPr/>
                    <a:lstStyle/>
                    <a:p>
                      <a:pPr marL="0" lvl="0" indent="0" algn="l" rtl="0">
                        <a:spcBef>
                          <a:spcPts val="0"/>
                        </a:spcBef>
                        <a:spcAft>
                          <a:spcPts val="0"/>
                        </a:spcAft>
                        <a:buNone/>
                      </a:pPr>
                      <a:r>
                        <a:rPr lang="en-GB" sz="1600"/>
                        <a:t>Large, Google-backed industry use</a:t>
                      </a:r>
                      <a:endParaRPr sz="1600"/>
                    </a:p>
                  </a:txBody>
                  <a:tcPr marL="91425" marR="91425" marT="91425" marB="91425"/>
                </a:tc>
                <a:tc>
                  <a:txBody>
                    <a:bodyPr/>
                    <a:lstStyle/>
                    <a:p>
                      <a:pPr marL="0" lvl="0" indent="0" algn="l" rtl="0">
                        <a:spcBef>
                          <a:spcPts val="0"/>
                        </a:spcBef>
                        <a:spcAft>
                          <a:spcPts val="0"/>
                        </a:spcAft>
                        <a:buNone/>
                      </a:pPr>
                      <a:r>
                        <a:rPr lang="en-GB" sz="1600"/>
                        <a:t>Strong academic/research base</a:t>
                      </a:r>
                      <a:endParaRPr sz="1600"/>
                    </a:p>
                  </a:txBody>
                  <a:tcPr marL="91425" marR="91425" marT="91425" marB="91425"/>
                </a:tc>
              </a:tr>
              <a:tr h="821200">
                <a:tc>
                  <a:txBody>
                    <a:bodyPr/>
                    <a:lstStyle/>
                    <a:p>
                      <a:pPr marL="0" lvl="0" indent="0" algn="l" rtl="0">
                        <a:spcBef>
                          <a:spcPts val="0"/>
                        </a:spcBef>
                        <a:spcAft>
                          <a:spcPts val="0"/>
                        </a:spcAft>
                        <a:buNone/>
                      </a:pPr>
                      <a:r>
                        <a:rPr lang="en-GB" sz="1600"/>
                        <a:t>Deployment</a:t>
                      </a:r>
                      <a:endParaRPr sz="1600"/>
                    </a:p>
                  </a:txBody>
                  <a:tcPr marL="91425" marR="91425" marT="91425" marB="91425"/>
                </a:tc>
                <a:tc>
                  <a:txBody>
                    <a:bodyPr/>
                    <a:lstStyle/>
                    <a:p>
                      <a:pPr marL="0" lvl="0" indent="0" algn="l" rtl="0">
                        <a:spcBef>
                          <a:spcPts val="0"/>
                        </a:spcBef>
                        <a:spcAft>
                          <a:spcPts val="0"/>
                        </a:spcAft>
                        <a:buNone/>
                      </a:pPr>
                      <a:r>
                        <a:rPr lang="en-GB" sz="1600"/>
                        <a:t>TF Serving, Lite, TensorFlow.js</a:t>
                      </a:r>
                      <a:endParaRPr sz="1600"/>
                    </a:p>
                  </a:txBody>
                  <a:tcPr marL="91425" marR="91425" marT="91425" marB="91425"/>
                </a:tc>
                <a:tc>
                  <a:txBody>
                    <a:bodyPr/>
                    <a:lstStyle/>
                    <a:p>
                      <a:pPr marL="0" lvl="0" indent="0" algn="l" rtl="0">
                        <a:spcBef>
                          <a:spcPts val="0"/>
                        </a:spcBef>
                        <a:spcAft>
                          <a:spcPts val="0"/>
                        </a:spcAft>
                        <a:buNone/>
                      </a:pPr>
                      <a:r>
                        <a:rPr lang="en-GB" sz="1600"/>
                        <a:t>TorchScript, ONNX expor</a:t>
                      </a:r>
                      <a:endParaRPr sz="1600"/>
                    </a:p>
                  </a:txBody>
                  <a:tcPr marL="91425" marR="91425" marT="91425" marB="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92" name="Shape 92"/>
        <p:cNvGrpSpPr/>
        <p:nvPr/>
      </p:nvGrpSpPr>
      <p:grpSpPr>
        <a:xfrm>
          <a:off x="0" y="0"/>
          <a:ext cx="0" cy="0"/>
          <a:chOff x="0" y="0"/>
          <a:chExt cx="0" cy="0"/>
        </a:xfrm>
      </p:grpSpPr>
      <p:graphicFrame>
        <p:nvGraphicFramePr>
          <p:cNvPr id="94" name="Google Shape;94;p17"/>
          <p:cNvGraphicFramePr/>
          <p:nvPr>
            <p:custDataLst>
              <p:tags r:id="rId1"/>
            </p:custDataLst>
          </p:nvPr>
        </p:nvGraphicFramePr>
        <p:xfrm>
          <a:off x="311785" y="128905"/>
          <a:ext cx="8616315" cy="4885690"/>
        </p:xfrm>
        <a:graphic>
          <a:graphicData uri="http://schemas.openxmlformats.org/drawingml/2006/table">
            <a:tbl>
              <a:tblPr>
                <a:noFill/>
                <a:tableStyleId>{DF4EC7E0-247E-4DCD-9E8C-67A3034214B7}</a:tableStyleId>
              </a:tblPr>
              <a:tblGrid>
                <a:gridCol w="1795145"/>
                <a:gridCol w="3552825"/>
                <a:gridCol w="3268345"/>
              </a:tblGrid>
              <a:tr h="496570">
                <a:tc>
                  <a:txBody>
                    <a:bodyPr/>
                    <a:lstStyle/>
                    <a:p>
                      <a:pPr marL="0" lvl="0" indent="0" algn="ctr" rtl="0">
                        <a:spcBef>
                          <a:spcPts val="0"/>
                        </a:spcBef>
                        <a:spcAft>
                          <a:spcPts val="0"/>
                        </a:spcAft>
                        <a:buNone/>
                      </a:pPr>
                      <a:r>
                        <a:rPr lang="en-GB" sz="1800" b="1"/>
                        <a:t>Category</a:t>
                      </a:r>
                      <a:endParaRPr sz="1800" b="1"/>
                    </a:p>
                  </a:txBody>
                  <a:tcPr marL="91425" marR="91425" marT="91425" marB="91425"/>
                </a:tc>
                <a:tc>
                  <a:txBody>
                    <a:bodyPr/>
                    <a:lstStyle/>
                    <a:p>
                      <a:pPr marL="0" lvl="0" indent="0" algn="ctr" rtl="0">
                        <a:spcBef>
                          <a:spcPts val="0"/>
                        </a:spcBef>
                        <a:spcAft>
                          <a:spcPts val="0"/>
                        </a:spcAft>
                        <a:buNone/>
                      </a:pPr>
                      <a:r>
                        <a:rPr lang="en-GB" sz="1800" b="1"/>
                        <a:t>TensorFlow</a:t>
                      </a:r>
                      <a:endParaRPr sz="1800" b="1"/>
                    </a:p>
                  </a:txBody>
                  <a:tcPr marL="91425" marR="91425" marT="91425" marB="91425"/>
                </a:tc>
                <a:tc>
                  <a:txBody>
                    <a:bodyPr/>
                    <a:lstStyle/>
                    <a:p>
                      <a:pPr marL="0" lvl="0" indent="0" algn="ctr" rtl="0">
                        <a:spcBef>
                          <a:spcPts val="0"/>
                        </a:spcBef>
                        <a:spcAft>
                          <a:spcPts val="0"/>
                        </a:spcAft>
                        <a:buNone/>
                      </a:pPr>
                      <a:r>
                        <a:rPr lang="en-GB" sz="1800" b="1"/>
                        <a:t>PyTorch</a:t>
                      </a:r>
                      <a:endParaRPr sz="1800" b="1"/>
                    </a:p>
                  </a:txBody>
                  <a:tcPr marL="91425" marR="91425" marT="91425" marB="91425"/>
                </a:tc>
              </a:tr>
              <a:tr h="914400">
                <a:tc>
                  <a:txBody>
                    <a:bodyPr/>
                    <a:lstStyle/>
                    <a:p>
                      <a:pPr marL="0" lvl="0" indent="0" algn="l" rtl="0">
                        <a:spcBef>
                          <a:spcPts val="0"/>
                        </a:spcBef>
                        <a:spcAft>
                          <a:spcPts val="0"/>
                        </a:spcAft>
                        <a:buNone/>
                      </a:pPr>
                      <a:r>
                        <a:rPr lang="en-US" altLang="zh-CN" sz="1600"/>
                        <a:t>Advantages</a:t>
                      </a:r>
                      <a:endParaRPr lang="en-US" altLang="zh-CN" sz="1600"/>
                    </a:p>
                  </a:txBody>
                  <a:tcPr marL="91425" marR="91425" marT="91425" marB="91425"/>
                </a:tc>
                <a:tc>
                  <a:txBody>
                    <a:bodyPr/>
                    <a:lstStyle/>
                    <a:p>
                      <a:pPr marL="0" lvl="0" indent="0" algn="l" rtl="0">
                        <a:spcBef>
                          <a:spcPts val="0"/>
                        </a:spcBef>
                        <a:spcAft>
                          <a:spcPts val="0"/>
                        </a:spcAft>
                        <a:buNone/>
                      </a:pPr>
                      <a:r>
                        <a:rPr lang="en-US" altLang="zh-CN" sz="1600"/>
                        <a:t>Strong production pipeline with TFX; excellent multi-platform deployment (cloud, mobile, web)</a:t>
                      </a:r>
                      <a:endParaRPr lang="en-US" altLang="zh-CN" sz="1600"/>
                    </a:p>
                  </a:txBody>
                  <a:tcPr marL="91425" marR="91425" marT="91425" marB="91425"/>
                </a:tc>
                <a:tc>
                  <a:txBody>
                    <a:bodyPr/>
                    <a:lstStyle/>
                    <a:p>
                      <a:pPr marL="0" lvl="0" indent="0" algn="l" rtl="0">
                        <a:spcBef>
                          <a:spcPts val="0"/>
                        </a:spcBef>
                        <a:spcAft>
                          <a:spcPts val="0"/>
                        </a:spcAft>
                        <a:buNone/>
                      </a:pPr>
                      <a:r>
                        <a:rPr lang="en-US" altLang="zh-CN" sz="1600"/>
                        <a:t>Dynamic graph design enables faster experimentation; highly intuitive for Python developers</a:t>
                      </a:r>
                      <a:endParaRPr lang="en-US" altLang="zh-CN" sz="1600"/>
                    </a:p>
                  </a:txBody>
                  <a:tcPr marL="91425" marR="91425" marT="91425" marB="91425"/>
                </a:tc>
              </a:tr>
              <a:tr h="914400">
                <a:tc>
                  <a:txBody>
                    <a:bodyPr/>
                    <a:lstStyle/>
                    <a:p>
                      <a:pPr marL="0" lvl="0" indent="0" algn="l" rtl="0">
                        <a:spcBef>
                          <a:spcPts val="0"/>
                        </a:spcBef>
                        <a:spcAft>
                          <a:spcPts val="0"/>
                        </a:spcAft>
                        <a:buNone/>
                      </a:pPr>
                      <a:r>
                        <a:rPr lang="en-US" altLang="zh-CN" sz="1600"/>
                        <a:t>Disadvantages</a:t>
                      </a:r>
                      <a:endParaRPr lang="en-US" altLang="zh-CN" sz="1600"/>
                    </a:p>
                  </a:txBody>
                  <a:tcPr marL="91425" marR="91425" marT="91425" marB="91425"/>
                </a:tc>
                <a:tc>
                  <a:txBody>
                    <a:bodyPr/>
                    <a:lstStyle/>
                    <a:p>
                      <a:pPr marL="0" lvl="0" indent="0" algn="l" rtl="0">
                        <a:spcBef>
                          <a:spcPts val="0"/>
                        </a:spcBef>
                        <a:spcAft>
                          <a:spcPts val="0"/>
                        </a:spcAft>
                        <a:buNone/>
                      </a:pPr>
                      <a:r>
                        <a:rPr lang="en-US" altLang="zh-CN" sz="1600"/>
                        <a:t>Higher entry barrier for beginners; slower iteration in research</a:t>
                      </a:r>
                      <a:endParaRPr lang="en-US" altLang="zh-CN" sz="1600"/>
                    </a:p>
                  </a:txBody>
                  <a:tcPr marL="91425" marR="91425" marT="91425" marB="91425"/>
                </a:tc>
                <a:tc>
                  <a:txBody>
                    <a:bodyPr/>
                    <a:lstStyle/>
                    <a:p>
                      <a:pPr marL="0" lvl="0" indent="0" algn="l" rtl="0">
                        <a:spcBef>
                          <a:spcPts val="0"/>
                        </a:spcBef>
                        <a:spcAft>
                          <a:spcPts val="0"/>
                        </a:spcAft>
                        <a:buNone/>
                      </a:pPr>
                      <a:r>
                        <a:rPr lang="en-US" altLang="zh-CN" sz="1600"/>
                        <a:t>Limited enterprise-level tools until recently; historically weaker TPU support</a:t>
                      </a:r>
                      <a:endParaRPr lang="en-US" altLang="zh-CN" sz="1600"/>
                    </a:p>
                  </a:txBody>
                  <a:tcPr marL="91425" marR="91425" marT="91425" marB="91425"/>
                </a:tc>
              </a:tr>
              <a:tr h="1158240">
                <a:tc>
                  <a:txBody>
                    <a:bodyPr/>
                    <a:lstStyle/>
                    <a:p>
                      <a:pPr marL="0" lvl="0" indent="0" algn="l" rtl="0">
                        <a:spcBef>
                          <a:spcPts val="0"/>
                        </a:spcBef>
                        <a:spcAft>
                          <a:spcPts val="0"/>
                        </a:spcAft>
                        <a:buNone/>
                      </a:pPr>
                      <a:r>
                        <a:rPr lang="en-US" altLang="zh-CN" sz="1600"/>
                        <a:t>Ecosystem</a:t>
                      </a:r>
                      <a:endParaRPr lang="en-US" altLang="zh-CN" sz="1600"/>
                    </a:p>
                  </a:txBody>
                  <a:tcPr marL="91425" marR="91425" marT="91425" marB="91425"/>
                </a:tc>
                <a:tc>
                  <a:txBody>
                    <a:bodyPr/>
                    <a:lstStyle/>
                    <a:p>
                      <a:pPr marL="0" lvl="0" indent="0" algn="l" rtl="0">
                        <a:spcBef>
                          <a:spcPts val="0"/>
                        </a:spcBef>
                        <a:spcAft>
                          <a:spcPts val="0"/>
                        </a:spcAft>
                        <a:buNone/>
                      </a:pPr>
                      <a:r>
                        <a:rPr lang="en-US" altLang="zh-CN" sz="1600"/>
                        <a:t>Integrated ecosystem (TensorFlow Hub, TensorFlow.js, TensorFlow Lite); strong Google Cloud support</a:t>
                      </a:r>
                      <a:endParaRPr lang="en-US" altLang="zh-CN" sz="1600"/>
                    </a:p>
                  </a:txBody>
                  <a:tcPr marL="91425" marR="91425" marT="91425" marB="91425"/>
                </a:tc>
                <a:tc>
                  <a:txBody>
                    <a:bodyPr/>
                    <a:lstStyle/>
                    <a:p>
                      <a:pPr marL="0" lvl="0" indent="0" algn="l" rtl="0">
                        <a:spcBef>
                          <a:spcPts val="0"/>
                        </a:spcBef>
                        <a:spcAft>
                          <a:spcPts val="0"/>
                        </a:spcAft>
                        <a:buNone/>
                      </a:pPr>
                      <a:r>
                        <a:rPr lang="en-US" altLang="zh-CN" sz="1600"/>
                        <a:t>Rich open-source research ecosystem (Hugging Face, Detectron2, Fairseq); strong Linux Foundation backing</a:t>
                      </a:r>
                      <a:endParaRPr lang="en-US" altLang="zh-CN" sz="1600"/>
                    </a:p>
                  </a:txBody>
                  <a:tcPr marL="91425" marR="91425" marT="91425" marB="91425"/>
                </a:tc>
              </a:tr>
              <a:tr h="1402080">
                <a:tc>
                  <a:txBody>
                    <a:bodyPr/>
                    <a:lstStyle/>
                    <a:p>
                      <a:pPr marL="0" lvl="0" indent="0" algn="l" rtl="0">
                        <a:spcBef>
                          <a:spcPts val="0"/>
                        </a:spcBef>
                        <a:spcAft>
                          <a:spcPts val="0"/>
                        </a:spcAft>
                        <a:buNone/>
                      </a:pPr>
                      <a:r>
                        <a:rPr lang="en-US" altLang="zh-CN" sz="1600"/>
                        <a:t>Trend</a:t>
                      </a:r>
                      <a:endParaRPr lang="en-US" altLang="zh-CN" sz="1600"/>
                    </a:p>
                  </a:txBody>
                  <a:tcPr marL="91425" marR="91425" marT="91425" marB="91425"/>
                </a:tc>
                <a:tc>
                  <a:txBody>
                    <a:bodyPr/>
                    <a:lstStyle/>
                    <a:p>
                      <a:pPr marL="0" lvl="0" indent="0" algn="l" rtl="0">
                        <a:spcBef>
                          <a:spcPts val="0"/>
                        </a:spcBef>
                        <a:spcAft>
                          <a:spcPts val="0"/>
                        </a:spcAft>
                        <a:buNone/>
                      </a:pPr>
                      <a:r>
                        <a:rPr lang="en-US" altLang="zh-CN" sz="1600"/>
                        <a:t>Still widely adopted in enterprises; strong in healthcare, finance, and production ML pipelines</a:t>
                      </a:r>
                      <a:endParaRPr lang="en-US" altLang="zh-CN" sz="1600"/>
                    </a:p>
                  </a:txBody>
                  <a:tcPr marL="91425" marR="91425" marT="91425" marB="91425"/>
                </a:tc>
                <a:tc>
                  <a:txBody>
                    <a:bodyPr/>
                    <a:lstStyle/>
                    <a:p>
                      <a:pPr marL="0" lvl="0" indent="0" algn="l" rtl="0">
                        <a:spcBef>
                          <a:spcPts val="0"/>
                        </a:spcBef>
                        <a:spcAft>
                          <a:spcPts val="0"/>
                        </a:spcAft>
                        <a:buNone/>
                      </a:pPr>
                      <a:r>
                        <a:rPr lang="en-US" altLang="zh-CN" sz="1600"/>
                        <a:t>Research community dominance; majority of NeurIPS/ICML papers now use PyTorch; industry adoption growing (e.g., Pinterest, OpenAI)</a:t>
                      </a:r>
                      <a:endParaRPr lang="en-US" altLang="zh-CN" sz="1600"/>
                    </a:p>
                  </a:txBody>
                  <a:tcPr marL="91425" marR="91425" marT="91425" marB="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98" name="Shape 98"/>
        <p:cNvGrpSpPr/>
        <p:nvPr/>
      </p:nvGrpSpPr>
      <p:grpSpPr>
        <a:xfrm>
          <a:off x="0" y="0"/>
          <a:ext cx="0" cy="0"/>
          <a:chOff x="0" y="0"/>
          <a:chExt cx="0" cy="0"/>
        </a:xfrm>
      </p:grpSpPr>
      <p:sp>
        <p:nvSpPr>
          <p:cNvPr id="99" name="Google Shape;99;p18"/>
          <p:cNvSpPr txBox="1"/>
          <p:nvPr/>
        </p:nvSpPr>
        <p:spPr>
          <a:xfrm>
            <a:off x="0" y="619125"/>
            <a:ext cx="5871900" cy="221297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100">
                <a:solidFill>
                  <a:schemeClr val="dk1"/>
                </a:solidFill>
              </a:rPr>
              <a:t>Abadi, M., et al. (2016). </a:t>
            </a:r>
            <a:r>
              <a:rPr lang="en-GB" sz="1100" i="1">
                <a:solidFill>
                  <a:schemeClr val="dk1"/>
                </a:solidFill>
              </a:rPr>
              <a:t>TensorFlow: A system for large-scale machine learning</a:t>
            </a:r>
            <a:r>
              <a:rPr lang="en-GB" sz="1100">
                <a:solidFill>
                  <a:schemeClr val="dk1"/>
                </a:solidFill>
              </a:rPr>
              <a:t>. OSDI.</a:t>
            </a:r>
            <a:br>
              <a:rPr lang="en-GB" sz="1100">
                <a:solidFill>
                  <a:schemeClr val="dk1"/>
                </a:solidFill>
              </a:rPr>
            </a:br>
            <a:endParaRPr sz="1100">
              <a:solidFill>
                <a:schemeClr val="dk1"/>
              </a:solidFill>
            </a:endParaRPr>
          </a:p>
          <a:p>
            <a:pPr marL="0" lvl="0" indent="0" algn="l" rtl="0">
              <a:spcBef>
                <a:spcPts val="0"/>
              </a:spcBef>
              <a:spcAft>
                <a:spcPts val="0"/>
              </a:spcAft>
              <a:buNone/>
            </a:pPr>
            <a:r>
              <a:rPr lang="en-GB" sz="1100">
                <a:solidFill>
                  <a:schemeClr val="dk1"/>
                </a:solidFill>
              </a:rPr>
              <a:t>Paszke, A., et al. (2019). </a:t>
            </a:r>
            <a:r>
              <a:rPr lang="en-GB" sz="1100" i="1">
                <a:solidFill>
                  <a:schemeClr val="dk1"/>
                </a:solidFill>
              </a:rPr>
              <a:t>PyTorch: An imperative style, high-performance deep learning library</a:t>
            </a:r>
            <a:r>
              <a:rPr lang="en-GB" sz="1100">
                <a:solidFill>
                  <a:schemeClr val="dk1"/>
                </a:solidFill>
              </a:rPr>
              <a:t>. NeurIPS.</a:t>
            </a:r>
            <a:br>
              <a:rPr lang="en-GB" sz="1100">
                <a:solidFill>
                  <a:schemeClr val="dk1"/>
                </a:solidFill>
              </a:rPr>
            </a:br>
            <a:endParaRPr lang="en-US" altLang="zh-CN" sz="1100">
              <a:solidFill>
                <a:schemeClr val="dk1"/>
              </a:solidFill>
            </a:endParaRPr>
          </a:p>
          <a:p>
            <a:pPr marL="0" lvl="0" indent="0" algn="l" rtl="0">
              <a:spcBef>
                <a:spcPts val="0"/>
              </a:spcBef>
              <a:spcAft>
                <a:spcPts val="0"/>
              </a:spcAft>
              <a:buNone/>
            </a:pPr>
            <a:r>
              <a:rPr lang="en-US" altLang="zh-CN" sz="1100">
                <a:solidFill>
                  <a:schemeClr val="dk1"/>
                </a:solidFill>
                <a:sym typeface="+mn-ea"/>
              </a:rPr>
              <a:t>Wolf, T., et al. (2020). </a:t>
            </a:r>
            <a:r>
              <a:rPr lang="en-US" altLang="zh-CN" sz="1100" i="1">
                <a:solidFill>
                  <a:schemeClr val="dk1"/>
                </a:solidFill>
                <a:sym typeface="+mn-ea"/>
              </a:rPr>
              <a:t>Transformers: State-of-the-art natural language processing. EMNLP 2020: System Demonstrations, 38–45. https://doi.org/10.18653/v1/2020.emnlp-demos.6</a:t>
            </a:r>
            <a:endParaRPr lang="en-US" altLang="zh-CN" sz="1100" i="1">
              <a:solidFill>
                <a:schemeClr val="dk1"/>
              </a:solidFill>
            </a:endParaRPr>
          </a:p>
          <a:p>
            <a:pPr marL="0" lvl="0" indent="0" algn="l" rtl="0">
              <a:spcBef>
                <a:spcPts val="0"/>
              </a:spcBef>
              <a:spcAft>
                <a:spcPts val="0"/>
              </a:spcAft>
              <a:buNone/>
            </a:pPr>
            <a:endParaRPr lang="en-US" altLang="zh-CN" sz="1100">
              <a:solidFill>
                <a:schemeClr val="dk1"/>
              </a:solidFill>
            </a:endParaRPr>
          </a:p>
          <a:p>
            <a:pPr marL="0" lvl="0" indent="0" algn="l" rtl="0">
              <a:spcBef>
                <a:spcPts val="0"/>
              </a:spcBef>
              <a:spcAft>
                <a:spcPts val="0"/>
              </a:spcAft>
              <a:buNone/>
            </a:pPr>
            <a:r>
              <a:rPr lang="en-US" altLang="zh-CN" sz="1100">
                <a:solidFill>
                  <a:schemeClr val="dk1"/>
                </a:solidFill>
              </a:rPr>
              <a:t>Meta AI. (2022, September 12). </a:t>
            </a:r>
            <a:r>
              <a:rPr lang="en-US" altLang="zh-CN" sz="1100" i="1">
                <a:solidFill>
                  <a:schemeClr val="dk1"/>
                </a:solidFill>
              </a:rPr>
              <a:t>PyTorch joins the Linux Foundation. https://ai.meta.com/blog/pytorch-foundation/</a:t>
            </a:r>
            <a:endParaRPr lang="en-US" altLang="zh-CN" sz="1100">
              <a:solidFill>
                <a:schemeClr val="dk1"/>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GB" sz="1100">
                <a:solidFill>
                  <a:schemeClr val="dk1"/>
                </a:solidFill>
              </a:rPr>
              <a:t>Official docs: tensorflow.org &amp; pytorch.org</a:t>
            </a:r>
            <a:endParaRPr sz="1100">
              <a:solidFill>
                <a:schemeClr val="dk1"/>
              </a:solidFill>
            </a:endParaRPr>
          </a:p>
        </p:txBody>
      </p:sp>
      <p:sp>
        <p:nvSpPr>
          <p:cNvPr id="1" name="文本框 0"/>
          <p:cNvSpPr txBox="1"/>
          <p:nvPr/>
        </p:nvSpPr>
        <p:spPr>
          <a:xfrm>
            <a:off x="0" y="182880"/>
            <a:ext cx="3048000" cy="306705"/>
          </a:xfrm>
          <a:prstGeom prst="rect">
            <a:avLst/>
          </a:prstGeom>
          <a:noFill/>
        </p:spPr>
        <p:txBody>
          <a:bodyPr wrap="square" rtlCol="0">
            <a:spAutoFit/>
          </a:bodyPr>
          <a:p>
            <a:r>
              <a:rPr lang="en-US" altLang="zh-CN"/>
              <a:t>Reference</a:t>
            </a:r>
            <a:endParaRPr lang="en-US" altLang="zh-CN"/>
          </a:p>
        </p:txBody>
      </p:sp>
    </p:spTree>
  </p:cSld>
  <p:clrMapOvr>
    <a:masterClrMapping/>
  </p:clrMapOvr>
</p:sld>
</file>

<file path=ppt/tags/tag1.xml><?xml version="1.0" encoding="utf-8"?>
<p:tagLst xmlns:p="http://schemas.openxmlformats.org/presentationml/2006/main">
  <p:tag name="TABLE_ENDDRAG_ORIGIN_RECT" val="678*378"/>
  <p:tag name="TABLE_ENDDRAG_RECT" val="23*55*678*378"/>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3086</Words>
  <Application>WPS 演示</Application>
  <PresentationFormat/>
  <Paragraphs>135</Paragraphs>
  <Slides>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vt:i4>
      </vt:variant>
    </vt:vector>
  </HeadingPairs>
  <TitlesOfParts>
    <vt:vector size="16" baseType="lpstr">
      <vt:lpstr>Arial</vt:lpstr>
      <vt:lpstr>宋体</vt:lpstr>
      <vt:lpstr>Wingdings</vt:lpstr>
      <vt:lpstr>Arial</vt:lpstr>
      <vt:lpstr>微软雅黑</vt:lpstr>
      <vt:lpstr>MS PGothic</vt:lpstr>
      <vt:lpstr>Arial Unicode MS</vt:lpstr>
      <vt:lpstr>Simple Light</vt:lpstr>
      <vt:lpstr>PowerPoint 演示文稿</vt:lpstr>
      <vt:lpstr>Background</vt:lpstr>
      <vt:lpstr>Key Features</vt:lpstr>
      <vt:lpstr>Key Features</vt:lpstr>
      <vt:lpstr>Real-world Applications</vt:lpstr>
      <vt:lpstr>Side-by-Side Comparison</vt:lpstr>
      <vt:lpstr>Side-by-Side Comparison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卡布季诺</cp:lastModifiedBy>
  <cp:revision>1</cp:revision>
  <dcterms:created xsi:type="dcterms:W3CDTF">2025-10-03T08:58:34Z</dcterms:created>
  <dcterms:modified xsi:type="dcterms:W3CDTF">2025-10-03T08:58:34Z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9BBC6380DEEF41A4A85F30E2485A44E5_12</vt:lpwstr>
  </property>
  <property fmtid="{D5CDD505-2E9C-101B-9397-08002B2CF9AE}" pid="3" name="KSOProductBuildVer">
    <vt:lpwstr>2052-12.1.0.22215</vt:lpwstr>
  </property>
</Properties>
</file>