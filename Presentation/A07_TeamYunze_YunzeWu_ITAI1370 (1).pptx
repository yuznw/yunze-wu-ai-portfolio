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CECAD5-4F5E-4FB8-866A-C4484DDA8183}">
  <a:tblStyle styleId="{DECECAD5-4F5E-4FB8-866A-C4484DDA818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5.xml"/><Relationship Id="rId22" Type="http://schemas.openxmlformats.org/officeDocument/2006/relationships/font" Target="fonts/Lato-boldItalic.fntdata"/><Relationship Id="rId10" Type="http://schemas.openxmlformats.org/officeDocument/2006/relationships/slide" Target="slides/slide4.xml"/><Relationship Id="rId21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8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be349fb9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be349fb9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be349fb9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be349fb9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be349fb9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be349fb9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be349fb9d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be349fb9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be349fb9d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be349fb9d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be349fb9d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8be349fb9d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be349fb9d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8be349fb9d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Input Layer</a:t>
            </a:r>
            <a:endParaRPr/>
          </a:p>
        </p:txBody>
      </p:sp>
      <p:graphicFrame>
        <p:nvGraphicFramePr>
          <p:cNvPr id="141" name="Google Shape;141;p14"/>
          <p:cNvGraphicFramePr/>
          <p:nvPr/>
        </p:nvGraphicFramePr>
        <p:xfrm>
          <a:off x="200600" y="130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{DECECAD5-4F5E-4FB8-866A-C4484DDA8183}</a:tableStyleId>
              </a:tblPr>
              <a:tblGrid>
                <a:gridCol w="700075"/>
                <a:gridCol w="1416000"/>
                <a:gridCol w="1791225"/>
                <a:gridCol w="1631500"/>
              </a:tblGrid>
              <a:tr h="614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500">
                          <a:solidFill>
                            <a:schemeClr val="lt1"/>
                          </a:solidFill>
                        </a:rPr>
                        <a:t>Age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500">
                          <a:solidFill>
                            <a:schemeClr val="lt1"/>
                          </a:solidFill>
                        </a:rPr>
                        <a:t>Location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500">
                          <a:solidFill>
                            <a:schemeClr val="lt1"/>
                          </a:solidFill>
                        </a:rPr>
                        <a:t>Interests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500">
                          <a:solidFill>
                            <a:schemeClr val="lt1"/>
                          </a:solidFill>
                        </a:rPr>
                        <a:t>Purchased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21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Urban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Games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Yes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34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Rural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Sports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No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28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Urban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Music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Yes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40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Suburban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Gardening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>
                          <a:solidFill>
                            <a:schemeClr val="lt1"/>
                          </a:solidFill>
                        </a:rPr>
                        <a:t>No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14"/>
          <p:cNvSpPr/>
          <p:nvPr/>
        </p:nvSpPr>
        <p:spPr>
          <a:xfrm>
            <a:off x="5848150" y="1307850"/>
            <a:ext cx="1435200" cy="744600"/>
          </a:xfrm>
          <a:prstGeom prst="ellipse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725" lIns="79725" spcFirstLastPara="1" rIns="79725" wrap="square" tIns="7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20">
                <a:latin typeface="Lato"/>
                <a:ea typeface="Lato"/>
                <a:cs typeface="Lato"/>
                <a:sym typeface="Lato"/>
              </a:rPr>
              <a:t>Age</a:t>
            </a:r>
            <a:endParaRPr sz="122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5848150" y="2269716"/>
            <a:ext cx="1435200" cy="744600"/>
          </a:xfrm>
          <a:prstGeom prst="ellipse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725" lIns="79725" spcFirstLastPara="1" rIns="79725" wrap="square" tIns="7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20">
                <a:latin typeface="Lato"/>
                <a:ea typeface="Lato"/>
                <a:cs typeface="Lato"/>
                <a:sym typeface="Lato"/>
              </a:rPr>
              <a:t>Location</a:t>
            </a:r>
            <a:endParaRPr sz="122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5848150" y="3231582"/>
            <a:ext cx="1435200" cy="744600"/>
          </a:xfrm>
          <a:prstGeom prst="ellipse">
            <a:avLst/>
          </a:prstGeom>
          <a:solidFill>
            <a:schemeClr val="lt2"/>
          </a:solidFill>
          <a:ln cap="flat" cmpd="sng" w="8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725" lIns="79725" spcFirstLastPara="1" rIns="79725" wrap="square" tIns="7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20">
                <a:latin typeface="Lato"/>
                <a:ea typeface="Lato"/>
                <a:cs typeface="Lato"/>
                <a:sym typeface="Lato"/>
              </a:rPr>
              <a:t>Interests</a:t>
            </a:r>
            <a:endParaRPr sz="122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7432350" y="2510025"/>
            <a:ext cx="6891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8291325" y="2173875"/>
            <a:ext cx="771600" cy="9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Hidden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layer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Hidden Layer 1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1244725" y="1116150"/>
            <a:ext cx="1589400" cy="9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Age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1216525" y="2191150"/>
            <a:ext cx="1645800" cy="853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Location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1216525" y="3356825"/>
            <a:ext cx="1645800" cy="853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Interests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4140600" y="975250"/>
            <a:ext cx="1352700" cy="874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Hidden Neuron 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4140600" y="1849750"/>
            <a:ext cx="1352700" cy="874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Hidden Neuron 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4140600" y="2724250"/>
            <a:ext cx="1352700" cy="874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Hidden Neuron 3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4140600" y="3598750"/>
            <a:ext cx="1352700" cy="874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Hidden Neuron 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2885500" y="1416400"/>
            <a:ext cx="1198500" cy="7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15"/>
          <p:cNvSpPr/>
          <p:nvPr/>
        </p:nvSpPr>
        <p:spPr>
          <a:xfrm rot="1961011">
            <a:off x="2883818" y="1898947"/>
            <a:ext cx="1198337" cy="20662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15"/>
          <p:cNvSpPr/>
          <p:nvPr/>
        </p:nvSpPr>
        <p:spPr>
          <a:xfrm rot="2697228">
            <a:off x="2555968" y="2412284"/>
            <a:ext cx="1841519" cy="6788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15"/>
          <p:cNvSpPr/>
          <p:nvPr/>
        </p:nvSpPr>
        <p:spPr>
          <a:xfrm rot="2939687">
            <a:off x="2312610" y="2777013"/>
            <a:ext cx="2183264" cy="5336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2877475" y="2443200"/>
            <a:ext cx="1198500" cy="7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15"/>
          <p:cNvSpPr/>
          <p:nvPr/>
        </p:nvSpPr>
        <p:spPr>
          <a:xfrm rot="551013">
            <a:off x="2861959" y="2903781"/>
            <a:ext cx="1084602" cy="6776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15"/>
          <p:cNvSpPr/>
          <p:nvPr/>
        </p:nvSpPr>
        <p:spPr>
          <a:xfrm rot="-1111987">
            <a:off x="2715158" y="2016660"/>
            <a:ext cx="1495032" cy="5284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5"/>
          <p:cNvSpPr/>
          <p:nvPr/>
        </p:nvSpPr>
        <p:spPr>
          <a:xfrm rot="2700000">
            <a:off x="2585363" y="3352306"/>
            <a:ext cx="1654630" cy="7509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2877475" y="4022250"/>
            <a:ext cx="1198500" cy="7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15"/>
          <p:cNvSpPr/>
          <p:nvPr/>
        </p:nvSpPr>
        <p:spPr>
          <a:xfrm rot="-1111987">
            <a:off x="2695013" y="3437218"/>
            <a:ext cx="1495032" cy="24020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5"/>
          <p:cNvSpPr/>
          <p:nvPr/>
        </p:nvSpPr>
        <p:spPr>
          <a:xfrm rot="-2696019">
            <a:off x="2251467" y="2534211"/>
            <a:ext cx="2381184" cy="7509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5"/>
          <p:cNvSpPr/>
          <p:nvPr/>
        </p:nvSpPr>
        <p:spPr>
          <a:xfrm rot="-1858535">
            <a:off x="2784512" y="2979254"/>
            <a:ext cx="1495125" cy="5289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5976750" y="869250"/>
            <a:ext cx="2818500" cy="3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the hidden layer, the model begins to combine input features in non-linear ways.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Stronger arrows indicate higher weights, meaning that “Age” and “Interests” are more influential features in this decision.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According to </a:t>
            </a:r>
            <a:r>
              <a:rPr b="1" lang="zh-CN" sz="1100">
                <a:solidFill>
                  <a:schemeClr val="lt1"/>
                </a:solidFill>
              </a:rPr>
              <a:t>feedforward neural network theory</a:t>
            </a:r>
            <a:r>
              <a:rPr lang="zh-CN" sz="1100">
                <a:solidFill>
                  <a:schemeClr val="lt1"/>
                </a:solidFill>
              </a:rPr>
              <a:t>, each neuron computes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a=f(w⋅x+b)a = f(w \cdot x + b)a=f(w⋅x+b),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where </a:t>
            </a:r>
            <a:r>
              <a:rPr i="1" lang="zh-CN" sz="1100">
                <a:solidFill>
                  <a:schemeClr val="lt1"/>
                </a:solidFill>
              </a:rPr>
              <a:t>f</a:t>
            </a:r>
            <a:r>
              <a:rPr lang="zh-CN" sz="1100">
                <a:solidFill>
                  <a:schemeClr val="lt1"/>
                </a:solidFill>
              </a:rPr>
              <a:t> is the </a:t>
            </a:r>
            <a:r>
              <a:rPr b="1" lang="zh-CN" sz="1100">
                <a:solidFill>
                  <a:schemeClr val="lt1"/>
                </a:solidFill>
              </a:rPr>
              <a:t>activation function</a:t>
            </a:r>
            <a:r>
              <a:rPr lang="zh-CN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ReLU helps introduce non-linearity, allowing the model to learn complex patterns.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Hidden Layer 2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1260150" y="1013275"/>
            <a:ext cx="2319600" cy="9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Hidden Neuron 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1260150" y="1958250"/>
            <a:ext cx="2319600" cy="9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Hidden Neuron 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1260150" y="2903225"/>
            <a:ext cx="2319600" cy="9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Hidden Neuron 3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1260150" y="3848200"/>
            <a:ext cx="2319600" cy="9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Hidden Neuron 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4572000" y="1399025"/>
            <a:ext cx="1789800" cy="972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Neuron 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4572000" y="2872350"/>
            <a:ext cx="1789800" cy="972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Neuron 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3" name="Google Shape;183;p16"/>
          <p:cNvCxnSpPr>
            <a:stCxn id="177" idx="6"/>
            <a:endCxn id="181" idx="2"/>
          </p:cNvCxnSpPr>
          <p:nvPr/>
        </p:nvCxnSpPr>
        <p:spPr>
          <a:xfrm>
            <a:off x="3579750" y="1470325"/>
            <a:ext cx="992400" cy="4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16"/>
          <p:cNvCxnSpPr>
            <a:stCxn id="177" idx="6"/>
            <a:endCxn id="182" idx="2"/>
          </p:cNvCxnSpPr>
          <p:nvPr/>
        </p:nvCxnSpPr>
        <p:spPr>
          <a:xfrm>
            <a:off x="3579750" y="1470325"/>
            <a:ext cx="992400" cy="188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16"/>
          <p:cNvCxnSpPr>
            <a:stCxn id="178" idx="6"/>
            <a:endCxn id="181" idx="2"/>
          </p:cNvCxnSpPr>
          <p:nvPr/>
        </p:nvCxnSpPr>
        <p:spPr>
          <a:xfrm flipH="1" rot="10800000">
            <a:off x="3579750" y="1884900"/>
            <a:ext cx="992400" cy="53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16"/>
          <p:cNvCxnSpPr>
            <a:stCxn id="178" idx="6"/>
            <a:endCxn id="182" idx="2"/>
          </p:cNvCxnSpPr>
          <p:nvPr/>
        </p:nvCxnSpPr>
        <p:spPr>
          <a:xfrm>
            <a:off x="3579750" y="2415300"/>
            <a:ext cx="992400" cy="9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16"/>
          <p:cNvCxnSpPr>
            <a:stCxn id="179" idx="6"/>
            <a:endCxn id="181" idx="2"/>
          </p:cNvCxnSpPr>
          <p:nvPr/>
        </p:nvCxnSpPr>
        <p:spPr>
          <a:xfrm flipH="1" rot="10800000">
            <a:off x="3579750" y="1885175"/>
            <a:ext cx="992400" cy="147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16"/>
          <p:cNvCxnSpPr>
            <a:stCxn id="179" idx="6"/>
            <a:endCxn id="182" idx="2"/>
          </p:cNvCxnSpPr>
          <p:nvPr/>
        </p:nvCxnSpPr>
        <p:spPr>
          <a:xfrm flipH="1" rot="10800000">
            <a:off x="3579750" y="3358475"/>
            <a:ext cx="9924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16"/>
          <p:cNvCxnSpPr>
            <a:stCxn id="180" idx="6"/>
            <a:endCxn id="181" idx="2"/>
          </p:cNvCxnSpPr>
          <p:nvPr/>
        </p:nvCxnSpPr>
        <p:spPr>
          <a:xfrm flipH="1" rot="10800000">
            <a:off x="3579750" y="1885150"/>
            <a:ext cx="992400" cy="24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16"/>
          <p:cNvCxnSpPr>
            <a:stCxn id="180" idx="6"/>
            <a:endCxn id="182" idx="2"/>
          </p:cNvCxnSpPr>
          <p:nvPr/>
        </p:nvCxnSpPr>
        <p:spPr>
          <a:xfrm flipH="1" rot="10800000">
            <a:off x="3579750" y="3358450"/>
            <a:ext cx="992400" cy="94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16"/>
          <p:cNvSpPr/>
          <p:nvPr/>
        </p:nvSpPr>
        <p:spPr>
          <a:xfrm rot="3760860">
            <a:off x="3086942" y="2336557"/>
            <a:ext cx="1978018" cy="19884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16"/>
          <p:cNvSpPr/>
          <p:nvPr/>
        </p:nvSpPr>
        <p:spPr>
          <a:xfrm rot="-1039">
            <a:off x="3579750" y="3310472"/>
            <a:ext cx="992400" cy="9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6593975" y="807525"/>
            <a:ext cx="2391600" cy="4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After the first layer, the network refines its internal representation.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Some neurons pass stronger signals forward while others weaken, depending on their learned contribution to reducing prediction error.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Weight updates are guided by the </a:t>
            </a:r>
            <a:r>
              <a:rPr b="1" lang="zh-CN" sz="1100">
                <a:solidFill>
                  <a:schemeClr val="lt1"/>
                </a:solidFill>
              </a:rPr>
              <a:t>gradient descent</a:t>
            </a:r>
            <a:r>
              <a:rPr lang="zh-CN" sz="1100">
                <a:solidFill>
                  <a:schemeClr val="lt1"/>
                </a:solidFill>
              </a:rPr>
              <a:t> algorithm,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adjusting each connection proportionally to its partial derivative of the loss function: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zh-C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new</a:t>
            </a: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​=w</a:t>
            </a:r>
            <a:r>
              <a:rPr lang="zh-C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old</a:t>
            </a: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​−η(∂L/​</a:t>
            </a: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∂w)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Output Layer</a:t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1558475" y="1522475"/>
            <a:ext cx="2340300" cy="118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Output Layer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Will Purchase</a:t>
            </a:r>
            <a:endParaRPr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1558475" y="3012175"/>
            <a:ext cx="2340300" cy="118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Output Layer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Will Not Purchase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308600" y="1747050"/>
            <a:ext cx="1203600" cy="78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0.78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460400" y="3441775"/>
            <a:ext cx="900000" cy="32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0.22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5508700" y="1054425"/>
            <a:ext cx="2827800" cy="3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network predicts that this user is likely to purchase, with a confidence score of 78%.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conclusion is derived from the activations produced by previous layers.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Output probabilities are generated using the softmax function,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ensuring that the sum of predicted class probabilities equals 1.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Decision is based on the highest output probability.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Feedback and Learning (Backpropagation)</a:t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987550" y="2052250"/>
            <a:ext cx="2067600" cy="1234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Output Layer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4289675" y="2098550"/>
            <a:ext cx="1898100" cy="105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Hidden Layer 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3137525" y="2499750"/>
            <a:ext cx="1062000" cy="22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1357875" y="3605500"/>
            <a:ext cx="2623200" cy="7458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Error = Predicted − Actual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263975" y="3564400"/>
            <a:ext cx="2114100" cy="8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Actual Result: No Purchase</a:t>
            </a:r>
            <a:br>
              <a:rPr lang="zh-CN" sz="1000">
                <a:latin typeface="Lato"/>
                <a:ea typeface="Lato"/>
                <a:cs typeface="Lato"/>
                <a:sym typeface="Lato"/>
              </a:rPr>
            </a:b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Predicted: Yes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6758575" y="1332175"/>
            <a:ext cx="2114100" cy="3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The model’s prediction was incorrect — it predicted “Will Purchase” but the actual result was “No”.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The network measures this difference as error and uses backpropagation to adjust its weights.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Backpropagation applies the chain rule of calculus to distribute the error backward through the network.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Each weight is updated to minimize the total loss using gradient descent.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lt1"/>
                </a:solidFill>
              </a:rPr>
              <a:t>Over time, this process helps the network generalize better.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Theoretical Insights and Real-world Applications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"/>
          <p:cNvSpPr txBox="1"/>
          <p:nvPr>
            <p:ph idx="1" type="body"/>
          </p:nvPr>
        </p:nvSpPr>
        <p:spPr>
          <a:xfrm>
            <a:off x="1297500" y="1567550"/>
            <a:ext cx="3372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zh-CN" sz="1200">
                <a:latin typeface="Arial"/>
                <a:ea typeface="Arial"/>
                <a:cs typeface="Arial"/>
                <a:sym typeface="Arial"/>
              </a:rPr>
              <a:t>Connection Strength Decisions</a:t>
            </a:r>
            <a:br>
              <a:rPr b="1" lang="zh-CN" sz="1200">
                <a:latin typeface="Arial"/>
                <a:ea typeface="Arial"/>
                <a:cs typeface="Arial"/>
                <a:sym typeface="Arial"/>
              </a:rPr>
            </a:b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zh-CN" sz="1200">
                <a:latin typeface="Arial"/>
                <a:ea typeface="Arial"/>
                <a:cs typeface="Arial"/>
                <a:sym typeface="Arial"/>
              </a:rPr>
              <a:t>Feedback and Error Correction</a:t>
            </a:r>
            <a:br>
              <a:rPr b="1" lang="zh-CN" sz="1200">
                <a:latin typeface="Arial"/>
                <a:ea typeface="Arial"/>
                <a:cs typeface="Arial"/>
                <a:sym typeface="Arial"/>
              </a:rPr>
            </a:b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zh-CN" sz="1200">
                <a:latin typeface="Arial"/>
                <a:ea typeface="Arial"/>
                <a:cs typeface="Arial"/>
                <a:sym typeface="Arial"/>
              </a:rPr>
              <a:t>Theoretical References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5755575" y="1234450"/>
            <a:ext cx="3070800" cy="3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model’s connection strengths were guided by theoretical principles of weight optimization.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Backpropagation theory allowed the system to reduce prediction error iteratively.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Similar mechanisms power modern recommendation engines, online advertising, and personalized content systems.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Reference</a:t>
            </a:r>
            <a:endParaRPr/>
          </a:p>
        </p:txBody>
      </p:sp>
      <p:sp>
        <p:nvSpPr>
          <p:cNvPr id="227" name="Google Shape;22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Goodfellow, I., Bengio, Y., &amp; Courville, A. (2016). </a:t>
            </a:r>
            <a:r>
              <a:rPr i="1" lang="zh-CN" sz="1100">
                <a:latin typeface="Arial"/>
                <a:ea typeface="Arial"/>
                <a:cs typeface="Arial"/>
                <a:sym typeface="Arial"/>
              </a:rPr>
              <a:t>Deep Learning</a:t>
            </a:r>
            <a:r>
              <a:rPr lang="zh-CN" sz="1100">
                <a:latin typeface="Arial"/>
                <a:ea typeface="Arial"/>
                <a:cs typeface="Arial"/>
                <a:sym typeface="Arial"/>
              </a:rPr>
              <a:t>. MIT Press.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Stanford University. (n.d.). </a:t>
            </a:r>
            <a:r>
              <a:rPr i="1" lang="zh-CN" sz="1100">
                <a:latin typeface="Arial"/>
                <a:ea typeface="Arial"/>
                <a:cs typeface="Arial"/>
                <a:sym typeface="Arial"/>
              </a:rPr>
              <a:t>CS231n: Convolutional Neural Networks for Visual Recognition</a:t>
            </a:r>
            <a:r>
              <a:rPr lang="zh-CN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Schmidhuber, J. (2015). </a:t>
            </a:r>
            <a:r>
              <a:rPr i="1" lang="zh-CN" sz="1100">
                <a:latin typeface="Arial"/>
                <a:ea typeface="Arial"/>
                <a:cs typeface="Arial"/>
                <a:sym typeface="Arial"/>
              </a:rPr>
              <a:t>Deep Learning in Neural Networks: An Overview</a:t>
            </a:r>
            <a:r>
              <a:rPr lang="zh-CN" sz="11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zh-CN" sz="1100">
                <a:latin typeface="Arial"/>
                <a:ea typeface="Arial"/>
                <a:cs typeface="Arial"/>
                <a:sym typeface="Arial"/>
              </a:rPr>
              <a:t>Neural Networks</a:t>
            </a:r>
            <a:r>
              <a:rPr lang="zh-CN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zh-C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