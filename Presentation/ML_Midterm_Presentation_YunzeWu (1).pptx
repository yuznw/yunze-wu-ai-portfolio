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8c1f374ca_0_1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8c1f374ca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8c1f374ca_0_1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8c1f374ca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8c1f374ca_0_12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8c1f374ca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8c1f374ca_0_1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8c1f374ca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8c1f374ca_0_12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8c1f374ca_0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8c1f374ca_0_1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8c1f374ca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8c1f374ca_0_12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8c1f374ca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8c1f374ca_0_12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8c1f374ca_0_1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588427"/>
            <a:ext cx="745763" cy="61102"/>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588427"/>
            <a:ext cx="745763" cy="61102"/>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588427"/>
            <a:ext cx="745763" cy="61102"/>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588427"/>
            <a:ext cx="745763" cy="61102"/>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588427"/>
            <a:ext cx="745763" cy="61102"/>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588427"/>
            <a:ext cx="745763" cy="61102"/>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5558926"/>
            <a:ext cx="745763" cy="61102"/>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588427"/>
            <a:ext cx="745763" cy="61102"/>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5558926"/>
            <a:ext cx="745763" cy="61102"/>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Exploring Core Machine Learning Concepts: Regression and Classification</a:t>
            </a:r>
            <a:endParaRPr/>
          </a:p>
        </p:txBody>
      </p:sp>
      <p:sp>
        <p:nvSpPr>
          <p:cNvPr id="93" name="Google Shape;93;p14"/>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fontScale="47500" lnSpcReduction="20000"/>
          </a:bodyPr>
          <a:lstStyle/>
          <a:p>
            <a:pPr indent="-236220" lvl="0" marL="342900" rtl="0" algn="l">
              <a:lnSpc>
                <a:spcPct val="115000"/>
              </a:lnSpc>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Yunze Wu</a:t>
            </a:r>
            <a:endParaRPr sz="1300"/>
          </a:p>
          <a:p>
            <a:pPr indent="-236220" lvl="0" marL="342900" rtl="0" algn="l">
              <a:lnSpc>
                <a:spcPct val="115000"/>
              </a:lnSpc>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ITAI 1371 – Machine Learning Fundamentals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758200"/>
            <a:ext cx="7688700" cy="71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Conceptual Overview</a:t>
            </a:r>
            <a:endParaRPr/>
          </a:p>
        </p:txBody>
      </p:sp>
      <p:sp>
        <p:nvSpPr>
          <p:cNvPr id="99" name="Google Shape;99;p15"/>
          <p:cNvSpPr txBox="1"/>
          <p:nvPr>
            <p:ph idx="1" type="body"/>
          </p:nvPr>
        </p:nvSpPr>
        <p:spPr>
          <a:xfrm>
            <a:off x="729450" y="2771833"/>
            <a:ext cx="7688700" cy="3014700"/>
          </a:xfrm>
          <a:prstGeom prst="rect">
            <a:avLst/>
          </a:prstGeom>
        </p:spPr>
        <p:txBody>
          <a:bodyPr anchorCtr="0" anchor="t" bIns="91425" lIns="91425" spcFirstLastPara="1" rIns="91425" wrap="square" tIns="91425">
            <a:normAutofit fontScale="70000"/>
          </a:bodyPr>
          <a:lstStyle/>
          <a:p>
            <a:pPr indent="-281940" lvl="0" marL="342900" rtl="0" algn="l">
              <a:spcBef>
                <a:spcPts val="0"/>
              </a:spcBef>
              <a:spcAft>
                <a:spcPts val="1200"/>
              </a:spcAft>
              <a:buClr>
                <a:schemeClr val="dk1"/>
              </a:buClr>
              <a:buSzPct val="100000"/>
              <a:buChar char="●"/>
            </a:pPr>
            <a:r>
              <a:rPr lang="en-US" sz="3200">
                <a:solidFill>
                  <a:schemeClr val="dk1"/>
                </a:solidFill>
                <a:latin typeface="Calibri"/>
                <a:ea typeface="Calibri"/>
                <a:cs typeface="Calibri"/>
                <a:sym typeface="Calibri"/>
              </a:rPr>
              <a:t>Supervised learning trains on labeled data to predict outcomes, while unsupervised learning finds patterns without labels. Overfitting occurs when a model memorizes training data instead of learning general patterns; it can be reduced through regularization or cross-validation. Distance metrics such as Euclidean and Manhattan measure similarity between samples and are essential for clustering and KNN algorithms.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758200"/>
            <a:ext cx="7688700" cy="71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Analytical Insights</a:t>
            </a:r>
            <a:endParaRPr/>
          </a:p>
        </p:txBody>
      </p:sp>
      <p:sp>
        <p:nvSpPr>
          <p:cNvPr id="105" name="Google Shape;105;p16"/>
          <p:cNvSpPr txBox="1"/>
          <p:nvPr>
            <p:ph idx="1" type="body"/>
          </p:nvPr>
        </p:nvSpPr>
        <p:spPr>
          <a:xfrm>
            <a:off x="729450" y="2771825"/>
            <a:ext cx="5107500" cy="3014700"/>
          </a:xfrm>
          <a:prstGeom prst="rect">
            <a:avLst/>
          </a:prstGeom>
        </p:spPr>
        <p:txBody>
          <a:bodyPr anchorCtr="0" anchor="t" bIns="91425" lIns="91425" spcFirstLastPara="1" rIns="91425" wrap="square" tIns="91425">
            <a:normAutofit fontScale="55000" lnSpcReduction="10000"/>
          </a:bodyPr>
          <a:lstStyle/>
          <a:p>
            <a:pPr indent="-251459"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The Euclidean distance measures straight-line similarity, Manhattan distance measures grid-based path length, and Chebyshev distance focuses on the maximum coordinate difference. K-Fold validation showed consistent performance with a mean accuracy of 0.82 and standard deviation of 0.0158, indicating model stability. L2 regularization penalizes large coefficients to balance model complexity and generalization.</a:t>
            </a:r>
            <a:endParaRPr/>
          </a:p>
          <a:p>
            <a:pPr indent="0" lvl="0" marL="0" rtl="0" algn="l">
              <a:spcBef>
                <a:spcPts val="1200"/>
              </a:spcBef>
              <a:spcAft>
                <a:spcPts val="1200"/>
              </a:spcAft>
              <a:buNone/>
            </a:pPr>
            <a:r>
              <a:t/>
            </a:r>
            <a:endParaRPr/>
          </a:p>
        </p:txBody>
      </p:sp>
      <p:pic>
        <p:nvPicPr>
          <p:cNvPr id="106" name="Google Shape;106;p16"/>
          <p:cNvPicPr preferRelativeResize="0"/>
          <p:nvPr/>
        </p:nvPicPr>
        <p:blipFill>
          <a:blip r:embed="rId3">
            <a:alphaModFix/>
          </a:blip>
          <a:stretch>
            <a:fillRect/>
          </a:stretch>
        </p:blipFill>
        <p:spPr>
          <a:xfrm>
            <a:off x="5989350" y="2624300"/>
            <a:ext cx="3002250" cy="3002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758200"/>
            <a:ext cx="7688700" cy="71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Regression Experiment (C1)</a:t>
            </a:r>
            <a:endParaRPr/>
          </a:p>
        </p:txBody>
      </p:sp>
      <p:sp>
        <p:nvSpPr>
          <p:cNvPr id="112" name="Google Shape;112;p17"/>
          <p:cNvSpPr txBox="1"/>
          <p:nvPr>
            <p:ph idx="1" type="body"/>
          </p:nvPr>
        </p:nvSpPr>
        <p:spPr>
          <a:xfrm>
            <a:off x="729450" y="2771825"/>
            <a:ext cx="4672500" cy="3014700"/>
          </a:xfrm>
          <a:prstGeom prst="rect">
            <a:avLst/>
          </a:prstGeom>
        </p:spPr>
        <p:txBody>
          <a:bodyPr anchorCtr="0" anchor="t" bIns="91425" lIns="91425" spcFirstLastPara="1" rIns="91425" wrap="square" tIns="91425">
            <a:normAutofit fontScale="62500" lnSpcReduction="20000"/>
          </a:bodyPr>
          <a:lstStyle/>
          <a:p>
            <a:pPr indent="-26670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Linear Regression on Synthetic Data</a:t>
            </a:r>
            <a:endParaRPr/>
          </a:p>
          <a:p>
            <a:pPr indent="-26670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Train RMSE: 14.9   Test RMSE: 15.8</a:t>
            </a:r>
            <a:endParaRPr/>
          </a:p>
          <a:p>
            <a:pPr indent="-266700" lvl="0" marL="342900" rtl="0" algn="l">
              <a:spcBef>
                <a:spcPts val="640"/>
              </a:spcBef>
              <a:spcAft>
                <a:spcPts val="1200"/>
              </a:spcAft>
              <a:buClr>
                <a:schemeClr val="dk1"/>
              </a:buClr>
              <a:buSzPct val="100000"/>
              <a:buChar char="●"/>
            </a:pPr>
            <a:r>
              <a:rPr lang="en-US" sz="3200">
                <a:solidFill>
                  <a:schemeClr val="dk1"/>
                </a:solidFill>
                <a:latin typeface="Calibri"/>
                <a:ea typeface="Calibri"/>
                <a:cs typeface="Calibri"/>
                <a:sym typeface="Calibri"/>
              </a:rPr>
              <a:t>The similar RMSE values suggest good generalization with minimal overfitting. The model effectively captures linear relationships between input features and targets. Visualization of predicted vs. actual values or residuals could further confirm model fit quality.</a:t>
            </a:r>
            <a:endParaRPr/>
          </a:p>
        </p:txBody>
      </p:sp>
      <p:pic>
        <p:nvPicPr>
          <p:cNvPr id="113" name="Google Shape;113;p17"/>
          <p:cNvPicPr preferRelativeResize="0"/>
          <p:nvPr/>
        </p:nvPicPr>
        <p:blipFill>
          <a:blip r:embed="rId3">
            <a:alphaModFix/>
          </a:blip>
          <a:stretch>
            <a:fillRect/>
          </a:stretch>
        </p:blipFill>
        <p:spPr>
          <a:xfrm>
            <a:off x="5401950" y="2624300"/>
            <a:ext cx="3589651" cy="3589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1758200"/>
            <a:ext cx="7688700" cy="71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Classification Experiment (C2)</a:t>
            </a:r>
            <a:endParaRPr/>
          </a:p>
        </p:txBody>
      </p:sp>
      <p:sp>
        <p:nvSpPr>
          <p:cNvPr id="119" name="Google Shape;119;p18"/>
          <p:cNvSpPr txBox="1"/>
          <p:nvPr>
            <p:ph idx="1" type="body"/>
          </p:nvPr>
        </p:nvSpPr>
        <p:spPr>
          <a:xfrm>
            <a:off x="729450" y="2771833"/>
            <a:ext cx="7688700" cy="3014700"/>
          </a:xfrm>
          <a:prstGeom prst="rect">
            <a:avLst/>
          </a:prstGeom>
        </p:spPr>
        <p:txBody>
          <a:bodyPr anchorCtr="0" anchor="t" bIns="91425" lIns="91425" spcFirstLastPara="1" rIns="91425" wrap="square" tIns="91425">
            <a:normAutofit fontScale="62500" lnSpcReduction="20000"/>
          </a:bodyPr>
          <a:lstStyle/>
          <a:p>
            <a:pPr indent="-26670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Logistic Regression on Moon-Shaped Data</a:t>
            </a:r>
            <a:endParaRPr/>
          </a:p>
          <a:p>
            <a:pPr indent="-26670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Accuracy: 0.87</a:t>
            </a:r>
            <a:endParaRPr/>
          </a:p>
          <a:p>
            <a:pPr indent="-26670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Decision boundary and confusion matrix plots illustrate how the model separates the two classes. Because Logistic Regression is linear, it cannot fully capture the curved structure of the data, resulting in some misclassifications near overlapping regions. Nonetheless, the model generalizes reasonably well and performs as expected for a linear classifier.</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9450" y="1758200"/>
            <a:ext cx="7688700" cy="71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US" sz="4400">
                <a:solidFill>
                  <a:schemeClr val="dk1"/>
                </a:solidFill>
                <a:latin typeface="Calibri"/>
                <a:ea typeface="Calibri"/>
                <a:cs typeface="Calibri"/>
                <a:sym typeface="Calibri"/>
              </a:rPr>
              <a:t>Classification Experiment (C2)</a:t>
            </a:r>
            <a:endParaRPr/>
          </a:p>
        </p:txBody>
      </p:sp>
      <p:sp>
        <p:nvSpPr>
          <p:cNvPr id="125" name="Google Shape;125;p19"/>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6" name="Google Shape;126;p19"/>
          <p:cNvPicPr preferRelativeResize="0"/>
          <p:nvPr/>
        </p:nvPicPr>
        <p:blipFill>
          <a:blip r:embed="rId3">
            <a:alphaModFix/>
          </a:blip>
          <a:stretch>
            <a:fillRect/>
          </a:stretch>
        </p:blipFill>
        <p:spPr>
          <a:xfrm>
            <a:off x="729447" y="2771822"/>
            <a:ext cx="4014975" cy="3233326"/>
          </a:xfrm>
          <a:prstGeom prst="rect">
            <a:avLst/>
          </a:prstGeom>
          <a:noFill/>
          <a:ln>
            <a:noFill/>
          </a:ln>
        </p:spPr>
      </p:pic>
      <p:pic>
        <p:nvPicPr>
          <p:cNvPr id="127" name="Google Shape;127;p19"/>
          <p:cNvPicPr preferRelativeResize="0"/>
          <p:nvPr/>
        </p:nvPicPr>
        <p:blipFill>
          <a:blip r:embed="rId4">
            <a:alphaModFix/>
          </a:blip>
          <a:stretch>
            <a:fillRect/>
          </a:stretch>
        </p:blipFill>
        <p:spPr>
          <a:xfrm>
            <a:off x="4849450" y="2771822"/>
            <a:ext cx="3538893" cy="3233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729450" y="1758200"/>
            <a:ext cx="7688700" cy="71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Observations &amp; Lessons Learned</a:t>
            </a:r>
            <a:endParaRPr/>
          </a:p>
        </p:txBody>
      </p:sp>
      <p:sp>
        <p:nvSpPr>
          <p:cNvPr id="133" name="Google Shape;133;p20"/>
          <p:cNvSpPr txBox="1"/>
          <p:nvPr>
            <p:ph idx="1" type="body"/>
          </p:nvPr>
        </p:nvSpPr>
        <p:spPr>
          <a:xfrm>
            <a:off x="729450" y="2771833"/>
            <a:ext cx="7688700" cy="3014700"/>
          </a:xfrm>
          <a:prstGeom prst="rect">
            <a:avLst/>
          </a:prstGeom>
        </p:spPr>
        <p:txBody>
          <a:bodyPr anchorCtr="0" anchor="t" bIns="91425" lIns="91425" spcFirstLastPara="1" rIns="91425" wrap="square" tIns="91425">
            <a:normAutofit fontScale="62500"/>
          </a:bodyPr>
          <a:lstStyle/>
          <a:p>
            <a:pPr indent="-26670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This project reinforced the importance of data preprocessing, feature scaling, and model evaluation. Linear models generalize well on simple relationships but underperform on nonlinear data. K-Fold validation and distance metrics provide quantitative insights into model performance and consistency. Visualization tools such as heatmaps, RMSE charts, decision boundaries, and confusion matrices make results interpretable and intuitive.</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29450" y="1758200"/>
            <a:ext cx="7688700" cy="71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Conclusion &amp; Future Work</a:t>
            </a:r>
            <a:endParaRPr/>
          </a:p>
        </p:txBody>
      </p:sp>
      <p:sp>
        <p:nvSpPr>
          <p:cNvPr id="139" name="Google Shape;139;p21"/>
          <p:cNvSpPr txBox="1"/>
          <p:nvPr>
            <p:ph idx="1" type="body"/>
          </p:nvPr>
        </p:nvSpPr>
        <p:spPr>
          <a:xfrm>
            <a:off x="729450" y="2771833"/>
            <a:ext cx="7688700" cy="3014700"/>
          </a:xfrm>
          <a:prstGeom prst="rect">
            <a:avLst/>
          </a:prstGeom>
        </p:spPr>
        <p:txBody>
          <a:bodyPr anchorCtr="0" anchor="t" bIns="91425" lIns="91425" spcFirstLastPara="1" rIns="91425" wrap="square" tIns="91425">
            <a:normAutofit fontScale="77500" lnSpcReduction="20000"/>
          </a:bodyPr>
          <a:lstStyle/>
          <a:p>
            <a:pPr indent="-29718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This project provided practical experience in implementing regression and classification workflows from scratch. Future work could explore nonlinear models such as decision trees or kernel-based methods to handle complex patterns, and apply advanced regularization or ensemble techniques to further improve prediction accuracy and robustness.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